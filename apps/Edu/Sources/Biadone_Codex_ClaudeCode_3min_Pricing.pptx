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00:00–00:12 · 12초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00:12–00:32 · 20초
OFFICIAL SOURCES
https://learn.chatgpt.com/docs/pricing
https://code.claude.com/docs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00:32–00:55 · 23초
OFFICIAL SOURCES
https://help.openai.com/en/articles/11369540-using-codex-with-your-chatgpt-plan
https://code.claude.com/docs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00:55–01:30 · 35초
OFFICIAL SOURCES
https://learn.chatgpt.com/docs/pricing
https://support.claude.com/en/articles/8325606-what-is-the-pro-plan
https://support.claude.com/en/articles/11049741-what-is-the-max-plan
https://support.claude.com/en/articles/11145838-use-claude-code-with-your-pro-or-max-plan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01:30–01:55 · 25초
OFFICIAL SOURCES
https://learn.chatgpt.com/docs/pricing
https://support.claude.com/en/articles/9266767-what-is-the-team-plan
https://support.claude.com/en/articles/12429409-manage-usage-credits-for-paid-claude-plans
https://code.claude.com/docs/en/costs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01:55–02:25 · 30초
OFFICIAL SOURCES
https://learn.chatgpt.com/docs/pricing
https://support.claude.com/en/articles/11145838-use-claude-code-with-your-pro-or-max-plan
https://support.claude.com/en/articles/12429409-manage-usage-credits-for-paid-claude-plans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02:25–02:50 · 25초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TIMING: 02:50–03:00 · 10초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303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50" kern="0" dirty="0">
                <a:solidFill>
                  <a:srgbClr val="F2EDE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/ 3-MINUTE GUIDE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530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150" kern="0" dirty="0">
                <a:solidFill>
                  <a:srgbClr val="7C7C8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BEFORE I ASK, DONE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58952" y="1627632"/>
            <a:ext cx="0" cy="274320"/>
          </a:xfrm>
          <a:prstGeom prst="line">
            <a:avLst/>
          </a:prstGeom>
          <a:noFill/>
          <a:ln w="27940">
            <a:solidFill>
              <a:srgbClr val="7F91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184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00" kern="0" dirty="0">
                <a:solidFill>
                  <a:srgbClr val="7F91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AI Coding Tools / Pricing / Use Cases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93392"/>
            <a:ext cx="8778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5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Codex와 Claude Code,</a:t>
            </a:r>
            <a:endParaRPr lang="en-US" sz="35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5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무엇이고 어떤 요금제가 맞을까</a:t>
            </a:r>
            <a:endParaRPr lang="en-US" sz="3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6616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B4B0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코드를 몰라도 사업 도구를 만들 수 있는 AI 코딩 도구 입문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56052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E6E7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5605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E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소상공인 · 1인 사업자 · 작은 사업팀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005072" y="56052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E6E7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56052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6E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소개 + 요금제 선택 + 활용 사례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E7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Codex &amp; Claude Code · Cover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4B0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 / 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 / WHAT THEY ARE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20700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질문하는 AI를 넘어</a:t>
            </a:r>
            <a:endParaRPr lang="en-US" sz="3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직접 다루는 AI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4414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기능을 설명하면 · 프로젝트를 읽고 · 만들고 · 수정하고 · 실행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086600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289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6093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파일과 폴더 구조 파악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086600" y="2148840"/>
            <a:ext cx="4343400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24323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4597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EDIT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7797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페이지·도구 생성과 수정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086600" y="3319272"/>
            <a:ext cx="4343400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36027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630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RUN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950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명령 실행과 결과 확인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58952" y="5833872"/>
            <a:ext cx="173736" cy="0"/>
          </a:xfrm>
          <a:prstGeom prst="line">
            <a:avLst/>
          </a:prstGeom>
          <a:noFill/>
          <a:ln w="27940">
            <a:solidFill>
              <a:srgbClr val="1010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코드를 전부 외우는 대신, 원하는 기능과 확인 기준을 설명하는 방식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01 What They Are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 / 08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 / CODEX VS CLAUDE CODE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0058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둘의 핵심 역할은 비슷하다</a:t>
            </a:r>
            <a:endParaRPr lang="en-US" sz="2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기준은 생태계와 사용 방식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07568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다 파일을 읽고 수정하고 명령을 실행하는 AI 코딩 도구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834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CODEX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00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 생태계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210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계정과 연결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4069080"/>
            <a:ext cx="3246120" cy="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데스크톱 앱 · CLI · IDE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736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Cloud 기능은 요금제별 상이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51755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ChatGPT를 이미 쓰는 사람에게 자연스러움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2834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SAME CORE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3200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4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핵심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79392" y="36210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말로 설명하고 결과를 검토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9392" y="4069080"/>
            <a:ext cx="3246120" cy="0"/>
          </a:xfrm>
          <a:prstGeom prst="line">
            <a:avLst/>
          </a:prstGeom>
          <a:noFill/>
          <a:ln w="19050">
            <a:solidFill>
              <a:srgbClr val="234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79392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파일을 함께 수정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79392" y="47365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실행·테스트·오류 수정 보조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279392" y="51755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결과보다 수정과 검증이 중요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799832" y="2834640"/>
            <a:ext cx="3630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799832" y="3200400"/>
            <a:ext cx="3630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Anthropic 생태계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99832" y="362102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계정 또는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99832" y="4069080"/>
            <a:ext cx="3630168" cy="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99832" y="42976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터미널 · IDE · 데스크톱 · 브라우저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799832" y="473659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유료 구독 또는 API 방식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799832" y="517550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Claude를 이미 쓰는 사람에게 자연스러움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" y="5833872"/>
            <a:ext cx="173736" cy="0"/>
          </a:xfrm>
          <a:prstGeom prst="line">
            <a:avLst/>
          </a:prstGeom>
          <a:noFill/>
          <a:ln w="27940">
            <a:solidFill>
              <a:srgbClr val="1010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ChatGPT를 쓰면 Codex부터 · Claude를 쓰면 Claude Code부터 · 둘 다 구독할 필요는 없음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02 Codex vs Claude Code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 / 08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 / INDIVIDUAL PLANS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969264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요금제는</a:t>
            </a:r>
            <a:endParaRPr lang="en-US" sz="3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구간으로 보면 쉽다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1579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10월 공식 가격 · 미국 달러 기준 · 지역·세금·환율 별도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8529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362456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419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체험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58952" y="3904488"/>
            <a:ext cx="3429000" cy="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41422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Free $0 · Go $8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617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Code는 유료 또는 API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5184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확인 · 가벼운 작업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370832" y="28529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WEEKLY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341985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4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주기적으로 사용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70832" y="3904488"/>
            <a:ext cx="3429000" cy="0"/>
          </a:xfrm>
          <a:prstGeom prst="line">
            <a:avLst/>
          </a:prstGeom>
          <a:noFill/>
          <a:ln w="19050">
            <a:solidFill>
              <a:srgbClr val="234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41422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Plus $20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370832" y="4617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Pro $20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370832" y="51846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프로젝트 · 주간 활용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982712" y="2852928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700" dirty="0"/>
          </a:p>
        </p:txBody>
      </p:sp>
      <p:sp>
        <p:nvSpPr>
          <p:cNvPr id="21" name="Text 19"/>
          <p:cNvSpPr txBox="1"/>
          <p:nvPr/>
        </p:nvSpPr>
        <p:spPr>
          <a:xfrm>
            <a:off x="8586216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DAILY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982712" y="3419856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매일 장시간 사용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82712" y="3904488"/>
            <a:ext cx="3447288" cy="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82712" y="4142232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Pro $100 / $200 / $500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982712" y="4617720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Max 5x $100 · 20x $200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982712" y="5184648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큰 프로젝트 · 높은 사용량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58952" y="5833872"/>
            <a:ext cx="173736" cy="0"/>
          </a:xfrm>
          <a:prstGeom prst="line">
            <a:avLst/>
          </a:prstGeom>
          <a:noFill/>
          <a:ln w="27940">
            <a:solidFill>
              <a:srgbClr val="1010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7552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 크기와 모델에 따라 한도가 달라짐 · 가장 낮은 단계에서 시작해 실제 사용량으로 판단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03 Individual Plans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 / 08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 / TEAM &amp; EXTRA USAGE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005840"/>
            <a:ext cx="5760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 요금제는 가격보다</a:t>
            </a:r>
            <a:endParaRPr lang="en-US" sz="3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관리와 데이터 기준이 먼저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103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2명 이상이 함께 쓰거나 · 회사 자료와 권한 관리가 필요한 경우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852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CODEX BUSINESS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$20 / 인 / 월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연간 결제 · 월간은 $25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16966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ChatGPT + Codex · 전용 워크스페이스 · 관리자 제어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2816352"/>
            <a:ext cx="0" cy="246888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85292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CLAUDE TEAM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Standard $20 · Premium $100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6941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연간 결제 · 월간은 $25 / $125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169664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2명 · Premium은 더 높은 사용량을 위한 좌석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2816352"/>
            <a:ext cx="0" cy="246888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49056" y="2852928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LIMITS &amp; CREDITS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3200400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구독료 = 무제한이 아님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730752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한도 이후 추가 크레딧이나 API 사용료가 발생할 수 있음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4645152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CI·배치·외부 서비스 자동화는 API 비용을 별도로 계산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5833872"/>
            <a:ext cx="173736" cy="0"/>
          </a:xfrm>
          <a:prstGeom prst="line">
            <a:avLst/>
          </a:prstGeom>
          <a:noFill/>
          <a:ln w="27940">
            <a:solidFill>
              <a:srgbClr val="1010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가격은 변경될 수 있음 · 팀 도입 전 1~2명의 소규모 파일럿으로 사용량과 비용 확인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03 Team &amp; Extra Usage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 / 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 / CHOOSE YOUR PLAN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024128"/>
            <a:ext cx="6400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비싼 플랜을</a:t>
            </a:r>
            <a:endParaRPr lang="en-US" sz="3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고르지 않는다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08483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 → 사용 빈도 → 한도 → 팀·자동화 순서로 판단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63931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과제 1개 선택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33088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홈페이지 수정 · 견적 계산 · 파일 정리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71800" y="3264408"/>
            <a:ext cx="411480" cy="0"/>
          </a:xfrm>
          <a:prstGeom prst="line">
            <a:avLst/>
          </a:prstGeom>
          <a:noFill/>
          <a:ln w="12700">
            <a:solidFill>
              <a:srgbClr val="D7D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8152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63931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낮은 단계로 2주 테스트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4133088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Codex Free·Go 또는 $20 요금제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97296" y="3264408"/>
            <a:ext cx="420624" cy="0"/>
          </a:xfrm>
          <a:prstGeom prst="line">
            <a:avLst/>
          </a:prstGeom>
          <a:noFill/>
          <a:ln w="12700">
            <a:solidFill>
              <a:srgbClr val="D7D5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07024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0101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363931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사용량 기록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4133088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한도 도달 · 대기 시간 · 미완료 과제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31936" y="3264408"/>
            <a:ext cx="411480" cy="0"/>
          </a:xfrm>
          <a:prstGeom prst="line">
            <a:avLst/>
          </a:prstGeom>
          <a:noFill/>
          <a:ln w="12700">
            <a:solidFill>
              <a:srgbClr val="D7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41664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44584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363931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필요할 때만 업그레이드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4133088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$100 구간 · 팀 플랜 · API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" y="5074920"/>
            <a:ext cx="10671048" cy="548640"/>
          </a:xfrm>
          <a:prstGeom prst="rect">
            <a:avLst/>
          </a:prstGeom>
          <a:solidFill>
            <a:srgbClr val="E8EBFF"/>
          </a:solidFill>
          <a:ln w="12700">
            <a:solidFill>
              <a:srgbClr val="E8EB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" y="5239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제안 기준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761488" y="5193792"/>
            <a:ext cx="8348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달에 2~3번 이상 한도 때문에 실제 업무가 끊길 때 상위 요금제 검토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04 Choose Your Plan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 / 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 / USE CASES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987552"/>
            <a:ext cx="7589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소상공인에게 좋은 첫 과제는</a:t>
            </a:r>
            <a:endParaRPr lang="en-US" sz="3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작고 반복되는 불편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21031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규칙이 분명하고 · 자주 반복되며 · 실패 피해가 작은 일부터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880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WEB PAGE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소개·문의 페이지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58952" y="3776472"/>
            <a:ext cx="2834640" cy="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410565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405079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사업·상품 소개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5902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453542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가격·사진·문구 수정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50749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502005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예약 링크 연결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78808" y="2880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2340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CALCULATOR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178808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340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견적·계산 도구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78808" y="3776472"/>
            <a:ext cx="2834640" cy="0"/>
          </a:xfrm>
          <a:prstGeom prst="line">
            <a:avLst/>
          </a:prstGeom>
          <a:noFill/>
          <a:ln w="19050">
            <a:solidFill>
              <a:srgbClr val="234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78808" y="410565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405079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인원·옵션별 금액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78808" y="45902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453542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할인·수수료 규칙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178808" y="50749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502005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입력값과 결과 검증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598664" y="2880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FILE TOOL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정리 도구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98664" y="3776472"/>
            <a:ext cx="2834640" cy="0"/>
          </a:xfrm>
          <a:prstGeom prst="line">
            <a:avLst/>
          </a:prstGeom>
          <a:noFill/>
          <a:ln w="10160">
            <a:solidFill>
              <a:srgbClr val="E6E1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98664" y="410565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055864" y="405079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매출·정산 파일 통합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98664" y="459028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055864" y="453542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 보고서 생성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507492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055864" y="502005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A4A5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파일명·형식 일괄 정리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8952" y="5833872"/>
            <a:ext cx="173736" cy="0"/>
          </a:xfrm>
          <a:prstGeom prst="line">
            <a:avLst/>
          </a:prstGeom>
          <a:noFill/>
          <a:ln w="27940">
            <a:solidFill>
              <a:srgbClr val="10101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101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첫 프로젝트에서는 고객 결제 · 개인정보 · 회계 확정처럼 실수 피해가 큰 업무는 제외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05 Use Cases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A9AA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07 /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4297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40" kern="0" dirty="0">
                <a:solidFill>
                  <a:srgbClr val="7F91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 / START SMALL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758952" y="749808"/>
            <a:ext cx="10671048" cy="0"/>
          </a:xfrm>
          <a:prstGeom prst="line">
            <a:avLst/>
          </a:prstGeom>
          <a:noFill/>
          <a:ln w="8890">
            <a:solidFill>
              <a:srgbClr val="1B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7276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요금제를 고르지 말고,</a:t>
            </a:r>
            <a:endParaRPr lang="en-US" sz="3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만들 일을 고르세요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81635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도구보다 과제가 먼저 · 한 가지를 만들고 · 직접 바꾸고 · 실제로 써보기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840480"/>
            <a:ext cx="1067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100" kern="0" dirty="0">
                <a:solidFill>
                  <a:srgbClr val="7F91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THREE STEPS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297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EDE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이해 · Understand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불편 하나 찾기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4297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EDE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 · Choose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낮은 적합 요금제로 시작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388352" y="4297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EDE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88352" y="471830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제작 · Build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88352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쓰는 도구 하나 완성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" y="5833872"/>
            <a:ext cx="173736" cy="0"/>
          </a:xfrm>
          <a:prstGeom prst="line">
            <a:avLst/>
          </a:prstGeom>
          <a:noFill/>
          <a:ln w="27940">
            <a:solidFill>
              <a:srgbClr val="7F91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565099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2EDE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Biadone · Before I ask, Done · 만들어 주고 끝이 아니라 직접 바꿀 수 있을 때까지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6501384"/>
            <a:ext cx="6217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E6E7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Biadone · 06 Closing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040112" y="6501384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4B0A6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08 / 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Biadone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Codex와 Claude Code, 무엇이고 어떤 요금제가 맞을까</dc:title>
  <dc:subject>Codex and Claude Code 3-minute guide for small businesses</dc:subject>
  <dc:creator>Biadone</dc:creator>
  <cp:lastModifiedBy>Biadone</cp:lastModifiedBy>
  <cp:revision>1</cp:revision>
  <dcterms:created xsi:type="dcterms:W3CDTF">2026-10-22T15:57:30Z</dcterms:created>
  <dcterms:modified xsi:type="dcterms:W3CDTF">2026-10-22T15:57:30Z</dcterms:modified>
</cp:coreProperties>
</file>