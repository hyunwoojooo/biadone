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
오늘은 Codex와 Claude Code의 기능을 길게 설명하는 대신, 소상공인이 자기 사업에 필요한 작은 도구를 어디까지 직접 만들 수 있는지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0:15–0:45
소상공인이 궁금한 것은 코딩 모델의 순위가 아닙니다. 외주를 맡겨야만 했던 작은 도구를 직접 만들 수 있는지, 자기 사업 규칙대로 바꿀 수 있는지, 다음 수정도 가능한지가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0:45–1:20
Codex와 Claude Code는 일반적인 질문 답변을 넘어 프로젝트 파일을 읽고 수정하며 명령을 실행하는 코딩 에이전트입니다. 이름과 세부 기능은 다르지만, 비개발자 입장에서는 원하는 기능을 설명하고 결과를 확인하는 작업 파트너로 이해하면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1:20–2:00
처음부터 큰 플랫폼을 만들 필요는 없습니다. 사업 소개와 문의를 받는 페이지, 매번 합치던 정산 파일을 정리하는 도구, 우리 가게 규칙으로 계산하는 주문·견적 도구처럼 작고 구체적인 결과물부터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2:00–2:50
진짜 가치는 첫 화면이 만들어지는 순간보다, 우리 사업의 조건을 반영해 수정하는 과정에서 나옵니다. 할인 정책은 사장님이 정하고, AI는 이를 구현하고 여러 조건에서 계산이 맞는지 확인하도록 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2:50–3:25
AI는 코드와 화면, 반복 작업을 빠르게 만들 수 있습니다. 하지만 가격 정책, 고객에게 약속할 내용, 결과가 맞는지와 공개 여부는 사람이 결정해야 합니다. 자동화는 책임까지 자동화하는 것이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3:25–4:05
직접 만드는 것이 항상 더 싸거나 좋은 것은 아닙니다. 표준 업무이고 안정성과 지원이 중요하면 기존 서비스가 유리합니다. 반대로 작고 구체적이며 우리 사업 규칙이 강하고 자주 바뀌는 기능이라면 맞춤 도구를 검토할 수 있습니다. 구독료뿐 아니라 구축과 유지보수까지 총비용으로 비교해야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4:05–4:45
수업에서는 도구의 모든 메뉴를 외우지 않습니다. 내가 만들 일 하나를 고르고, 필요한 자료와 규칙을 정리하고, 실제로 제작합니다. 그리고 오류와 비용, 권한을 확인한 뒤 다음 수정은 직접 해보는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4:45–5:00
지금 누가 이것 하나만 만들어줬으면 좋겠다고 생각했던 일을 떠올려보세요. 그 일을 실습 과제로 구체화하는 것부터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5분 영상 본편에는 포함하지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LIGHT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8890">
            <a:solidFill>
              <a:srgbClr val="26324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EA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s.openai.com/codex/cli" TargetMode="External"/><Relationship Id="rId2" Type="http://schemas.openxmlformats.org/officeDocument/2006/relationships/hyperlink" Target="https://help.openai.com/en/articles/11369540-using-codex-with-your-chatgpt-plan" TargetMode="External"/><Relationship Id="rId3" Type="http://schemas.openxmlformats.org/officeDocument/2006/relationships/hyperlink" Target="https://docs.anthropic.com/en/docs/claude-code" TargetMode="External"/><Relationship Id="rId4" Type="http://schemas.openxmlformats.org/officeDocument/2006/relationships/hyperlink" Target="https://support.anthropic.com/en/articles/11145838-using-claude-code-with-your-pro-or-max-plan" TargetMode="External"/><Relationship Id="rId5" Type="http://schemas.openxmlformats.org/officeDocument/2006/relationships/hyperlink" Target="https://developers.openai.com/codex/agent-approvals-security" TargetMode="External"/><Relationship Id="rId6" Type="http://schemas.openxmlformats.org/officeDocument/2006/relationships/hyperlink" Target="https://docs.anthropic.com/en/docs/claude-code/permissions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moody_modern_office_studio_interior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B122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658368"/>
            <a:ext cx="1207008" cy="320040"/>
          </a:xfrm>
          <a:prstGeom prst="roundRect">
            <a:avLst>
              <a:gd name="adj" fmla="val 22857"/>
            </a:avLst>
          </a:prstGeom>
          <a:solidFill>
            <a:srgbClr val="B6F36B"/>
          </a:solidFill>
          <a:ln w="12700">
            <a:solidFill>
              <a:srgbClr val="B6F3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68580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5분 인사이트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5212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사장님도 직접 만드는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 가게 도구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8368" y="31821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DE7F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Codex · Claude Code로 어디까지 될까?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8368" y="6144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BIADONE  |  AI × 자동화 × 웹 구축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개발자가 아니어도, 작은 도구는 직접 만들 수 있다</a:t>
            </a:r>
            <a:endParaRPr lang="en-US" sz="2900" dirty="0"/>
          </a:p>
        </p:txBody>
      </p:sp>
      <p:pic>
        <p:nvPicPr>
          <p:cNvPr id="4" name="Image 0" descr="/mnt/data/wide_professional_office_desk_scene_shallow_dept_batch_2.png">    </p:cNvPr>
          <p:cNvPicPr>
            <a:picLocks noChangeAspect="1"/>
          </p:cNvPicPr>
          <p:nvPr/>
        </p:nvPicPr>
        <p:blipFill>
          <a:blip r:embed="rId1"/>
          <a:srcRect l="13157" r="13157" t="0" b="0"/>
          <a:stretch/>
        </p:blipFill>
        <p:spPr>
          <a:xfrm>
            <a:off x="5806440" y="1508760"/>
            <a:ext cx="58064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508760"/>
            <a:ext cx="5806440" cy="4434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794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5727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5544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이것도 외주를 맡겨야 할까?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94360" y="2276856"/>
            <a:ext cx="475488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7980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7797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 가게 방식대로 바꿀 수 있을까?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94360" y="3502152"/>
            <a:ext cx="475488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023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40050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수정도 내가 할 수 있을까?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94360" y="5138928"/>
            <a:ext cx="4754880" cy="749808"/>
          </a:xfrm>
          <a:prstGeom prst="roundRect">
            <a:avLst/>
          </a:prstGeom>
          <a:solidFill>
            <a:srgbClr val="EAF8D6"/>
          </a:solidFill>
          <a:ln w="12700">
            <a:solidFill>
              <a:srgbClr val="D3EB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5266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핵심은 “코딩을 배운다”가 아니라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사업에 필요한 결과물을 직접 다루는 것입니다.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WHAT THEY 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Codex와 Claude Code는 무엇인가?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BBC7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말로 설명한 요구를 바탕으로 프로젝트 파일을 읽고, 고치고, 실행하는 코딩 에이전트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246120" y="3063240"/>
            <a:ext cx="960120" cy="0"/>
          </a:xfrm>
          <a:prstGeom prst="line">
            <a:avLst/>
          </a:prstGeom>
          <a:noFill/>
          <a:ln w="38100">
            <a:solidFill>
              <a:srgbClr val="54D8D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99248" y="2432304"/>
            <a:ext cx="960120" cy="0"/>
          </a:xfrm>
          <a:prstGeom prst="line">
            <a:avLst/>
          </a:prstGeom>
          <a:noFill/>
          <a:ln w="31750">
            <a:solidFill>
              <a:srgbClr val="B6F36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99248" y="3218688"/>
            <a:ext cx="960120" cy="0"/>
          </a:xfrm>
          <a:prstGeom prst="line">
            <a:avLst/>
          </a:prstGeom>
          <a:noFill/>
          <a:ln w="31750">
            <a:solidFill>
              <a:srgbClr val="B6F36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99248" y="4005072"/>
            <a:ext cx="960120" cy="0"/>
          </a:xfrm>
          <a:prstGeom prst="line">
            <a:avLst/>
          </a:prstGeom>
          <a:noFill/>
          <a:ln w="31750">
            <a:solidFill>
              <a:srgbClr val="B6F36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240280"/>
            <a:ext cx="2560320" cy="1627632"/>
          </a:xfrm>
          <a:prstGeom prst="roundRect">
            <a:avLst/>
          </a:prstGeom>
          <a:solidFill>
            <a:srgbClr val="111B2D"/>
          </a:solidFill>
          <a:ln w="17780">
            <a:solidFill>
              <a:srgbClr val="2B3A52"/>
            </a:solidFill>
            <a:prstDash val="solid"/>
          </a:ln>
          <a:effectLst>
            <a:outerShdw sx="100000" sy="100000" kx="0" ky="0" algn="bl" rotWithShape="0" blurRad="354838000" dist="161290000" dir="162000000000">
              <a:srgbClr val="000000">
                <a:alpha val="18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87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“우리 가격표로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견적 계산 페이지를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만들어줘”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24528" y="1993392"/>
            <a:ext cx="3456432" cy="2148840"/>
          </a:xfrm>
          <a:prstGeom prst="ellipse">
            <a:avLst/>
          </a:prstGeom>
          <a:solidFill>
            <a:srgbClr val="17243B"/>
          </a:solidFill>
          <a:ln w="27940">
            <a:solidFill>
              <a:srgbClr val="54D8D3"/>
            </a:solidFill>
            <a:prstDash val="solid"/>
          </a:ln>
          <a:effectLst>
            <a:outerShdw sx="100000" sy="100000" kx="0" ky="0" algn="bl" rotWithShape="0" blurRad="4506442600000" dist="2048383000000" dir="9720000000000000">
              <a:srgbClr val="000000">
                <a:alpha val="1800000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Codex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34456" y="2359152"/>
            <a:ext cx="0" cy="987552"/>
          </a:xfrm>
          <a:prstGeom prst="line">
            <a:avLst/>
          </a:prstGeom>
          <a:noFill/>
          <a:ln w="12700">
            <a:solidFill>
              <a:srgbClr val="3B4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233172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Claude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Code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572000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1D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파일과 명령을 다루는 작업 공간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0" y="2112264"/>
            <a:ext cx="2697480" cy="640080"/>
          </a:xfrm>
          <a:prstGeom prst="roundRect">
            <a:avLst/>
          </a:prstGeom>
          <a:solidFill>
            <a:srgbClr val="18293A"/>
          </a:solidFill>
          <a:ln w="15240">
            <a:solidFill>
              <a:srgbClr val="315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87968" y="2258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만들기·수정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0" y="2898648"/>
            <a:ext cx="2697480" cy="640080"/>
          </a:xfrm>
          <a:prstGeom prst="roundRect">
            <a:avLst/>
          </a:prstGeom>
          <a:solidFill>
            <a:srgbClr val="18293A"/>
          </a:solidFill>
          <a:ln w="15240">
            <a:solidFill>
              <a:srgbClr val="315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3044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명령 실행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686800" y="3685032"/>
            <a:ext cx="2697480" cy="640080"/>
          </a:xfrm>
          <a:prstGeom prst="roundRect">
            <a:avLst/>
          </a:prstGeom>
          <a:solidFill>
            <a:srgbClr val="263846"/>
          </a:solidFill>
          <a:ln w="15240">
            <a:solidFill>
              <a:srgbClr val="B6F3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87968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테스트·변경 검토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148840" y="498348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대화만 하는 도구가 아니라, 실제 프로젝트를 변경하고 확인하는 도구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66928" y="6272784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E8EA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Official docs: OpenAI Codex CLI · Anthropic Claude Code Overview (상세 출처는 Appendix)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EA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THREE STARTING POINTS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소상공인이 바로 써먹을 수 있는 세 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  <a:effectLst>
            <a:outerShdw sx="100000" sy="100000" kx="0" ky="0" algn="bl" rotWithShape="0" blurRad="57231821020000000" dist="26014464100000000" dir="583200000000000000000">
              <a:srgbClr val="000000">
                <a:alpha val="18000000000000000000"/>
              </a:srgbClr>
            </a:outerShdw>
          </a:effectLst>
        </p:spPr>
      </p:sp>
      <p:pic>
        <p:nvPicPr>
          <p:cNvPr id="5" name="Image 0" descr="/mnt/data/a_cozy_modern_café_atelier_like_interior_scene_wit_batch_3.png">    </p:cNvPr>
          <p:cNvPicPr>
            <a:picLocks noChangeAspect="1"/>
          </p:cNvPicPr>
          <p:nvPr/>
        </p:nvPicPr>
        <p:blipFill>
          <a:blip r:embed="rId1"/>
          <a:srcRect l="0" r="0" t="1984" b="1984"/>
          <a:stretch/>
        </p:blipFill>
        <p:spPr>
          <a:xfrm>
            <a:off x="676656" y="1618488"/>
            <a:ext cx="3072384" cy="2212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" y="3968496"/>
            <a:ext cx="713232" cy="320040"/>
          </a:xfrm>
          <a:prstGeom prst="roundRect">
            <a:avLst>
              <a:gd name="adj" fmla="val 22857"/>
            </a:avLst>
          </a:prstGeom>
          <a:solidFill>
            <a:srgbClr val="FFE6DE"/>
          </a:solidFill>
          <a:ln w="12700">
            <a:solidFill>
              <a:srgbClr val="FFE6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995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" y="440740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문의받는 웹페이지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8096" y="495604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가격·사진·문의 링크를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직접 수정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133088" y="150876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  <a:effectLst>
            <a:outerShdw sx="100000" sy="100000" kx="0" ky="0" algn="bl" rotWithShape="0" blurRad="726844126954000000000" dist="330383694070000000000" dir="3.4992e+25">
              <a:srgbClr val="000000">
                <a:alpha val="1.8e+24"/>
              </a:srgbClr>
            </a:outerShdw>
          </a:effectLst>
        </p:spPr>
      </p:sp>
      <p:pic>
        <p:nvPicPr>
          <p:cNvPr id="11" name="Image 1" descr="/mnt/data/a_realistic_well_lit_indoor_home_office_workspace_batch_4.png">    </p:cNvPr>
          <p:cNvPicPr>
            <a:picLocks noChangeAspect="1"/>
          </p:cNvPicPr>
          <p:nvPr/>
        </p:nvPicPr>
        <p:blipFill>
          <a:blip r:embed="rId2"/>
          <a:srcRect l="0" r="0" t="1984" b="1984"/>
          <a:stretch/>
        </p:blipFill>
        <p:spPr>
          <a:xfrm>
            <a:off x="4242816" y="1618488"/>
            <a:ext cx="3072384" cy="22128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34256" y="3968496"/>
            <a:ext cx="713232" cy="320040"/>
          </a:xfrm>
          <a:prstGeom prst="roundRect">
            <a:avLst>
              <a:gd name="adj" fmla="val 22857"/>
            </a:avLst>
          </a:prstGeom>
          <a:solidFill>
            <a:srgbClr val="DDF8F7"/>
          </a:solidFill>
          <a:ln w="12700">
            <a:solidFill>
              <a:srgbClr val="DDF8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07408" y="3995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C8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34256" y="440740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정산 파일 통합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334256" y="495604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 CSV·엑셀을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번에 정리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7699248" y="150876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  <a:effectLst>
            <a:outerShdw sx="100000" sy="100000" kx="0" ky="0" algn="bl" rotWithShape="0" blurRad="9.2309204123158e+24" dist="4.195872914689e+24" dir="2.09952e+30">
              <a:srgbClr val="000000">
                <a:alpha val="1.8e+29"/>
              </a:srgbClr>
            </a:outerShdw>
          </a:effectLst>
        </p:spPr>
      </p:sp>
      <p:pic>
        <p:nvPicPr>
          <p:cNvPr id="17" name="Image 2" descr="/mnt/data/a_realistic_well_lit_interior_scene_of_a_small_bu_batch_5.png">    </p:cNvPr>
          <p:cNvPicPr>
            <a:picLocks noChangeAspect="1"/>
          </p:cNvPicPr>
          <p:nvPr/>
        </p:nvPicPr>
        <p:blipFill>
          <a:blip r:embed="rId3"/>
          <a:srcRect l="0" r="0" t="1984" b="1984"/>
          <a:stretch/>
        </p:blipFill>
        <p:spPr>
          <a:xfrm>
            <a:off x="7808976" y="1618488"/>
            <a:ext cx="3072384" cy="22128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900416" y="3968496"/>
            <a:ext cx="713232" cy="320040"/>
          </a:xfrm>
          <a:prstGeom prst="roundRect">
            <a:avLst>
              <a:gd name="adj" fmla="val 22857"/>
            </a:avLst>
          </a:prstGeom>
          <a:solidFill>
            <a:srgbClr val="EAF8D6"/>
          </a:solidFill>
          <a:ln w="12700">
            <a:solidFill>
              <a:srgbClr val="EAF8D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973568" y="3995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7E1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TOOL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900416" y="440740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주문·견적 도구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900416" y="495604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 가게 규칙으로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계산·접수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THE REAL 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가치는 첫 제작보다 ‘다음 수정’에서 나온다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481328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7D3E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“10명 이상이면 10% 할인되게 바꿔줘. 9명과 12명일 때 계산도 확인해줘.”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57800" y="3154680"/>
            <a:ext cx="1325880" cy="0"/>
          </a:xfrm>
          <a:prstGeom prst="line">
            <a:avLst/>
          </a:prstGeom>
          <a:noFill/>
          <a:ln w="50800">
            <a:solidFill>
              <a:srgbClr val="54D8D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7240" y="2212848"/>
            <a:ext cx="4480560" cy="1993392"/>
          </a:xfrm>
          <a:prstGeom prst="roundRect">
            <a:avLst/>
          </a:prstGeom>
          <a:solidFill>
            <a:srgbClr val="17243B"/>
          </a:solidFill>
          <a:ln w="17780">
            <a:solidFill>
              <a:srgbClr val="2D405E"/>
            </a:solidFill>
            <a:prstDash val="solid"/>
          </a:ln>
          <a:effectLst>
            <a:outerShdw sx="100000" sy="100000" kx="0" ky="0" algn="bl" rotWithShape="0" blurRad="1.1723268923641065e+29" dist="5.3287586016550295e+28" dir="1.259712e+35">
              <a:srgbClr val="000000">
                <a:alpha val="1.7999999999999998e+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48716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253A58"/>
          </a:solidFill>
          <a:ln w="12700">
            <a:solidFill>
              <a:srgbClr val="25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51460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제작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C9D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1인 30,000원 × 12명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360,000원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583680" y="2029968"/>
            <a:ext cx="4800600" cy="2359152"/>
          </a:xfrm>
          <a:prstGeom prst="roundRect">
            <a:avLst/>
          </a:prstGeom>
          <a:solidFill>
            <a:srgbClr val="1B2F2F"/>
          </a:solidFill>
          <a:ln w="27940">
            <a:solidFill>
              <a:srgbClr val="B6F36B"/>
            </a:solidFill>
            <a:prstDash val="solid"/>
          </a:ln>
          <a:effectLst>
            <a:outerShdw sx="100000" sy="100000" kx="0" ky="0" algn="bl" rotWithShape="0" blurRad="1.4888551533024154e+33" dist="6.767523424101888e+32" dir="7.558272e+39">
              <a:srgbClr val="000000">
                <a:alpha val="1.8e+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230428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B6F36B"/>
          </a:solidFill>
          <a:ln w="12700">
            <a:solidFill>
              <a:srgbClr val="B6F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33172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 가게 규칙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AB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10명 이상 10% 할인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3264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AFC3C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360,000원 − 36,000원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03720" y="3657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324,000원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148840" y="5321808"/>
            <a:ext cx="1243584" cy="0"/>
          </a:xfrm>
          <a:prstGeom prst="line">
            <a:avLst/>
          </a:prstGeom>
          <a:noFill/>
          <a:ln w="25400">
            <a:solidFill>
              <a:srgbClr val="46566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54880" y="5321808"/>
            <a:ext cx="1243584" cy="0"/>
          </a:xfrm>
          <a:prstGeom prst="line">
            <a:avLst/>
          </a:prstGeom>
          <a:noFill/>
          <a:ln w="25400">
            <a:solidFill>
              <a:srgbClr val="46566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5321808"/>
            <a:ext cx="1243584" cy="0"/>
          </a:xfrm>
          <a:prstGeom prst="line">
            <a:avLst/>
          </a:prstGeom>
          <a:noFill/>
          <a:ln w="25400">
            <a:solidFill>
              <a:srgbClr val="46566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4983480"/>
            <a:ext cx="658368" cy="658368"/>
          </a:xfrm>
          <a:prstGeom prst="ellipse">
            <a:avLst/>
          </a:prstGeom>
          <a:solidFill>
            <a:srgbClr val="2B3C58"/>
          </a:solidFill>
          <a:ln w="12700">
            <a:solidFill>
              <a:srgbClr val="2B3C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02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73352" y="5074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만들기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474720" y="4983480"/>
            <a:ext cx="658368" cy="658368"/>
          </a:xfrm>
          <a:prstGeom prst="ellipse">
            <a:avLst/>
          </a:prstGeom>
          <a:solidFill>
            <a:srgbClr val="54D8D3"/>
          </a:solidFill>
          <a:ln w="12700">
            <a:solidFill>
              <a:srgbClr val="54D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5102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79392" y="5074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54D8D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수정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080760" y="4983480"/>
            <a:ext cx="658368" cy="658368"/>
          </a:xfrm>
          <a:prstGeom prst="ellipse">
            <a:avLst/>
          </a:prstGeom>
          <a:solidFill>
            <a:srgbClr val="B6F36B"/>
          </a:solidFill>
          <a:ln w="12700">
            <a:solidFill>
              <a:srgbClr val="B6F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5102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5432" y="5074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테스트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686800" y="4983480"/>
            <a:ext cx="658368" cy="658368"/>
          </a:xfrm>
          <a:prstGeom prst="ellipse">
            <a:avLst/>
          </a:prstGeom>
          <a:solidFill>
            <a:srgbClr val="2B3C58"/>
          </a:solidFill>
          <a:ln w="12700">
            <a:solidFill>
              <a:srgbClr val="2B3C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5102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91472" y="5074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사용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828800" y="5897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가격 정책은 사람이 결정하고, AI는 구현과 확인을 돕습니다.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EA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quality_composite_illustration_l_batch_6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B122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HUMAN IN THE LOOP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만들고, 사람은 결정한다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94360" y="4663440"/>
            <a:ext cx="5074920" cy="1371600"/>
          </a:xfrm>
          <a:prstGeom prst="roundRect">
            <a:avLst/>
          </a:prstGeom>
          <a:solidFill>
            <a:srgbClr val="07101C">
              <a:alpha val="92000"/>
            </a:srgbClr>
          </a:solidFill>
          <a:ln w="17780">
            <a:solidFill>
              <a:srgbClr val="54D8D3"/>
            </a:solidFill>
            <a:prstDash val="solid"/>
          </a:ln>
          <a:effectLst>
            <a:outerShdw sx="100000" sy="100000" kx="0" ky="0" algn="bl" rotWithShape="0" blurRad="1.8908460446940676e+37" dist="8.594754748609397e+36" dir="4.5349632000000006e+44">
              <a:srgbClr val="000000">
                <a:alpha val="1.8e+44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4892040"/>
            <a:ext cx="1115568" cy="320040"/>
          </a:xfrm>
          <a:prstGeom prst="roundRect">
            <a:avLst>
              <a:gd name="adj" fmla="val 22857"/>
            </a:avLst>
          </a:prstGeom>
          <a:solidFill>
            <a:srgbClr val="54D8D3"/>
          </a:solidFill>
          <a:ln w="12700">
            <a:solidFill>
              <a:srgbClr val="54D8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491947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맡을 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53309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구성 · 코드 작성 · 반복 작업 · 테스트 초안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19672" y="4663440"/>
            <a:ext cx="5074920" cy="1371600"/>
          </a:xfrm>
          <a:prstGeom prst="roundRect">
            <a:avLst/>
          </a:prstGeom>
          <a:solidFill>
            <a:srgbClr val="20110E">
              <a:alpha val="92000"/>
            </a:srgbClr>
          </a:solidFill>
          <a:ln w="17780">
            <a:solidFill>
              <a:srgbClr val="FF7A59"/>
            </a:solidFill>
            <a:prstDash val="solid"/>
          </a:ln>
          <a:effectLst>
            <a:outerShdw sx="100000" sy="100000" kx="0" ky="0" algn="bl" rotWithShape="0" blurRad="2.4013744767614657e+41" dist="1.0915338530733935e+41" dir="2.72097792e+49">
              <a:srgbClr val="000000">
                <a:alpha val="1.8e+4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93992" y="489204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67144" y="491947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사장님이 맡을 일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93992" y="53309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가격 정책 · 고객 약속 · 결과 검수 · 공개 판단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931920" y="3950208"/>
            <a:ext cx="4315968" cy="457200"/>
          </a:xfrm>
          <a:prstGeom prst="roundRect">
            <a:avLst/>
          </a:prstGeom>
          <a:solidFill>
            <a:srgbClr val="B6F36B"/>
          </a:solidFill>
          <a:ln w="12700">
            <a:solidFill>
              <a:srgbClr val="B6F36B"/>
            </a:solidFill>
            <a:prstDash val="solid"/>
          </a:ln>
          <a:effectLst>
            <a:outerShdw sx="100000" sy="100000" kx="0" ky="0" algn="bl" rotWithShape="0" blurRad="3.0497455854870615e+45" dist="1.3862479934032098e+45" dir="1.6325867520000003e+54">
              <a:srgbClr val="000000">
                <a:alpha val="1.8e+54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96512" y="404164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자동화 ≠ 책임의 자동화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BUILD OR BUY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무조건 직접 만드는 것이 정답은 아니다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“만들 수 있나?”보다 먼저, “만들 가치가 있나?”를 판단해야 합니다.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285232" cy="2971800"/>
          </a:xfrm>
          <a:prstGeom prst="roundRect">
            <a:avLst/>
          </a:prstGeom>
          <a:solidFill>
            <a:srgbClr val="DDF8F7"/>
          </a:solidFill>
          <a:ln w="15240">
            <a:solidFill>
              <a:srgbClr val="B7E6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231136"/>
            <a:ext cx="2395728" cy="320040"/>
          </a:xfrm>
          <a:prstGeom prst="roundRect">
            <a:avLst>
              <a:gd name="adj" fmla="val 22857"/>
            </a:avLst>
          </a:prstGeom>
          <a:solidFill>
            <a:srgbClr val="BFECE9"/>
          </a:solidFill>
          <a:ln w="12700">
            <a:solidFill>
              <a:srgbClr val="BFEC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585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6F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서비스를 쓰는 편이 나을 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" y="2907792"/>
            <a:ext cx="201168" cy="201168"/>
          </a:xfrm>
          <a:prstGeom prst="ellipse">
            <a:avLst/>
          </a:prstGeom>
          <a:solidFill>
            <a:srgbClr val="238C89"/>
          </a:solidFill>
          <a:ln w="12700">
            <a:solidFill>
              <a:srgbClr val="238C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7889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업무가 표준화되어 있다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50976" y="3529584"/>
            <a:ext cx="201168" cy="201168"/>
          </a:xfrm>
          <a:prstGeom prst="ellipse">
            <a:avLst/>
          </a:prstGeom>
          <a:solidFill>
            <a:srgbClr val="238C89"/>
          </a:solidFill>
          <a:ln w="12700">
            <a:solidFill>
              <a:srgbClr val="238C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41071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결제·예약처럼 안정성과 지원이 중요하다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50976" y="4151376"/>
            <a:ext cx="201168" cy="201168"/>
          </a:xfrm>
          <a:prstGeom prst="ellipse">
            <a:avLst/>
          </a:prstGeom>
          <a:solidFill>
            <a:srgbClr val="238C89"/>
          </a:solidFill>
          <a:ln w="12700">
            <a:solidFill>
              <a:srgbClr val="238C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03250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직접 유지보수할 시간이 없다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5352" y="1938528"/>
            <a:ext cx="5285232" cy="2971800"/>
          </a:xfrm>
          <a:prstGeom prst="roundRect">
            <a:avLst/>
          </a:prstGeom>
          <a:solidFill>
            <a:srgbClr val="EAF8D6"/>
          </a:solidFill>
          <a:ln w="15240">
            <a:solidFill>
              <a:srgbClr val="D0E9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231136"/>
            <a:ext cx="1993392" cy="320040"/>
          </a:xfrm>
          <a:prstGeom prst="roundRect">
            <a:avLst>
              <a:gd name="adj" fmla="val 22857"/>
            </a:avLst>
          </a:prstGeom>
          <a:solidFill>
            <a:srgbClr val="D9F4B4"/>
          </a:solidFill>
          <a:ln w="12700">
            <a:solidFill>
              <a:srgbClr val="D9F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22585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741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작은 맞춤 도구가 유리할 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907792"/>
            <a:ext cx="201168" cy="201168"/>
          </a:xfrm>
          <a:prstGeom prst="ellipse">
            <a:avLst/>
          </a:prstGeom>
          <a:solidFill>
            <a:srgbClr val="6BAA22"/>
          </a:solidFill>
          <a:ln w="12700">
            <a:solidFill>
              <a:srgbClr val="6BA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7889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기능이 작고 목적이 명확하다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37960" y="3529584"/>
            <a:ext cx="201168" cy="201168"/>
          </a:xfrm>
          <a:prstGeom prst="ellipse">
            <a:avLst/>
          </a:prstGeom>
          <a:solidFill>
            <a:srgbClr val="6BAA22"/>
          </a:solidFill>
          <a:ln w="12700">
            <a:solidFill>
              <a:srgbClr val="6BA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41071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 사업만의 규칙이 있다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4151376"/>
            <a:ext cx="201168" cy="201168"/>
          </a:xfrm>
          <a:prstGeom prst="ellipse">
            <a:avLst/>
          </a:prstGeom>
          <a:solidFill>
            <a:srgbClr val="6BAA22"/>
          </a:solidFill>
          <a:ln w="12700">
            <a:solidFill>
              <a:srgbClr val="6BA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403250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조건과 콘텐츠를 자주 바꿔야 한다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371600" y="5257800"/>
            <a:ext cx="9418320" cy="7498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54589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총비용 = </a:t>
            </a:r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구독료 + 구축 시간 + API·호스팅 + 유지보수 + 오류 대응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66928" y="6272784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49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요금제·사용량·API 과금은 제품과 시점에 따라 달라질 수 있습니다. 공식 요금·도움말 확인 권장.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COURSE PREVIEW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수업은 도구 설명이 아니라 ‘내 과제 완성’</a:t>
            </a:r>
            <a:endParaRPr lang="en-US" sz="2900" dirty="0"/>
          </a:p>
        </p:txBody>
      </p:sp>
      <p:pic>
        <p:nvPicPr>
          <p:cNvPr id="4" name="Image 0" descr="/mnt/data/a_bright_modern_office_classroom_co_working_scene_batch_7.png">    </p:cNvPr>
          <p:cNvPicPr>
            <a:picLocks noChangeAspect="1"/>
          </p:cNvPicPr>
          <p:nvPr/>
        </p:nvPicPr>
        <p:blipFill>
          <a:blip r:embed="rId1"/>
          <a:srcRect l="15249" r="15249" t="0" b="0"/>
          <a:stretch/>
        </p:blipFill>
        <p:spPr>
          <a:xfrm>
            <a:off x="5989320" y="1481328"/>
            <a:ext cx="5623560" cy="4553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481328"/>
            <a:ext cx="5623560" cy="455371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873176893568568e+49" dist="1.7605349516220764e+49" dir="9.795520512000002e+58">
              <a:srgbClr val="000000">
                <a:alpha val="1.8000000000000001e+59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" y="153619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7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143000" y="1728216"/>
            <a:ext cx="320040" cy="0"/>
          </a:xfrm>
          <a:prstGeom prst="line">
            <a:avLst/>
          </a:prstGeom>
          <a:noFill/>
          <a:ln w="2540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72768" y="148132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만들 일 하나 고르기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648" y="22494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7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43000" y="2441448"/>
            <a:ext cx="320040" cy="0"/>
          </a:xfrm>
          <a:prstGeom prst="line">
            <a:avLst/>
          </a:prstGeom>
          <a:noFill/>
          <a:ln w="2540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2768" y="21945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자료와 규칙 정리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" y="29626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7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43000" y="3154680"/>
            <a:ext cx="320040" cy="0"/>
          </a:xfrm>
          <a:prstGeom prst="line">
            <a:avLst/>
          </a:prstGeom>
          <a:noFill/>
          <a:ln w="2540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290779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Codex·Claude Code로 제작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2648" y="36758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7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143000" y="3867912"/>
            <a:ext cx="320040" cy="0"/>
          </a:xfrm>
          <a:prstGeom prst="line">
            <a:avLst/>
          </a:prstGeom>
          <a:noFill/>
          <a:ln w="25400">
            <a:solidFill>
              <a:srgbClr val="DDE3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72768" y="362102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오류·비용·권한 확인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12648" y="43891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143000" y="4581144"/>
            <a:ext cx="320040" cy="0"/>
          </a:xfrm>
          <a:prstGeom prst="line">
            <a:avLst/>
          </a:prstGeom>
          <a:noFill/>
          <a:ln w="25400">
            <a:solidFill>
              <a:srgbClr val="FF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2768" y="433425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수정 직접 해보기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12648" y="5230368"/>
            <a:ext cx="4892040" cy="758952"/>
          </a:xfrm>
          <a:prstGeom prst="roundRect">
            <a:avLst/>
          </a:prstGeom>
          <a:solidFill>
            <a:srgbClr val="FFE6DE"/>
          </a:solidFill>
          <a:ln w="12700">
            <a:solidFill>
              <a:srgbClr val="F6C3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431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3F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가져가는 것  ·  완성품 + 수정 방법 + 운영 카드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F3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YOUR FIRST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떠오르는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“누가 이것 하나만 만들어줬으면…”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하는 일은 무엇인가요?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828800" y="3822192"/>
            <a:ext cx="2286000" cy="694944"/>
          </a:xfrm>
          <a:prstGeom prst="roundRect">
            <a:avLst/>
          </a:prstGeom>
          <a:solidFill>
            <a:srgbClr val="16243A"/>
          </a:solidFill>
          <a:ln w="20320">
            <a:solidFill>
              <a:srgbClr val="54D8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견적 계산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36008" y="3822192"/>
            <a:ext cx="2286000" cy="694944"/>
          </a:xfrm>
          <a:prstGeom prst="roundRect">
            <a:avLst/>
          </a:prstGeom>
          <a:solidFill>
            <a:srgbClr val="16243A"/>
          </a:solidFill>
          <a:ln w="20320">
            <a:solidFill>
              <a:srgbClr val="B6F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3168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문의 정리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43216" y="3822192"/>
            <a:ext cx="2286000" cy="694944"/>
          </a:xfrm>
          <a:prstGeom prst="roundRect">
            <a:avLst/>
          </a:prstGeom>
          <a:solidFill>
            <a:srgbClr val="16243A"/>
          </a:solidFill>
          <a:ln w="20320">
            <a:solidFill>
              <a:srgbClr val="FF7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0376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상품 페이지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98648" y="5074920"/>
            <a:ext cx="6400800" cy="804672"/>
          </a:xfrm>
          <a:prstGeom prst="roundRect">
            <a:avLst/>
          </a:prstGeom>
          <a:solidFill>
            <a:srgbClr val="B6F36B"/>
          </a:solidFill>
          <a:ln w="12700">
            <a:solidFill>
              <a:srgbClr val="B6F36B"/>
            </a:solidFill>
            <a:prstDash val="solid"/>
          </a:ln>
          <a:effectLst>
            <a:outerShdw sx="100000" sy="100000" kx="0" ky="0" algn="bl" rotWithShape="0" blurRad="4.918934654832081e+53" dist="2.235879388560037e+53" dir="5.877312307200001e+63">
              <a:srgbClr val="000000">
                <a:alpha val="1.8e+6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5285232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내가 만들고 싶은 도구로 실습하기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023360" y="6099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20" kern="0" dirty="0">
                <a:solidFill>
                  <a:srgbClr val="54D8D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biadone.com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EA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7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A2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Official sources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07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기능과 이용 방식은 업데이트될 수 있으므로, 촬영·게시 전 공식 문서를 다시 확인하세요.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146304" cy="14630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· Codex CLI — inspect, edit, and run code from the terminal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660904"/>
            <a:ext cx="146304" cy="14630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94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· Using Codex with your ChatGPT plan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146304" cy="146304"/>
          </a:xfrm>
          <a:prstGeom prst="ellipse">
            <a:avLst/>
          </a:prstGeom>
          <a:solidFill>
            <a:srgbClr val="54D8D3"/>
          </a:solidFill>
          <a:ln w="12700">
            <a:solidFill>
              <a:srgbClr val="54D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· Claude Code Overview — edit files, run commands, manage projects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3922776"/>
            <a:ext cx="146304" cy="146304"/>
          </a:xfrm>
          <a:prstGeom prst="ellipse">
            <a:avLst/>
          </a:prstGeom>
          <a:solidFill>
            <a:srgbClr val="54D8D3"/>
          </a:solidFill>
          <a:ln w="12700">
            <a:solidFill>
              <a:srgbClr val="54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3133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· Use Claude Code with your Pro or Max plan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" y="4553712"/>
            <a:ext cx="146304" cy="146304"/>
          </a:xfrm>
          <a:prstGeom prst="ellipse">
            <a:avLst/>
          </a:prstGeom>
          <a:solidFill>
            <a:srgbClr val="9BA7B3"/>
          </a:solidFill>
          <a:ln w="12700">
            <a:solidFill>
              <a:srgbClr val="9BA7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622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· Agent approvals &amp; security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85800" y="5184648"/>
            <a:ext cx="146304" cy="146304"/>
          </a:xfrm>
          <a:prstGeom prst="ellipse">
            <a:avLst/>
          </a:prstGeom>
          <a:solidFill>
            <a:srgbClr val="9BA7B3"/>
          </a:solidFill>
          <a:ln w="12700">
            <a:solidFill>
              <a:srgbClr val="9BA7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932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u="sng" dirty="0">
                <a:solidFill>
                  <a:srgbClr val="356A8B"/>
                </a:solidFill>
                <a:uFill>
                  <a:solidFill>
                    <a:srgbClr val="356A8B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· Configure permissions in Claude Code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6016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7B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확인일: 2026-10-21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994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Biadone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사장님도 직접 만드는 우리 가게 도구</dc:title>
  <dc:subject>소상공인을 위한 Codex·Claude Code 5분 소개</dc:subject>
  <dc:creator>OpenAI</dc:creator>
  <cp:lastModifiedBy>OpenAI</cp:lastModifiedBy>
  <cp:revision>1</cp:revision>
  <dcterms:created xsi:type="dcterms:W3CDTF">2026-10-21T12:01:38Z</dcterms:created>
  <dcterms:modified xsi:type="dcterms:W3CDTF">2026-10-21T12:01:38Z</dcterms:modified>
</cp:coreProperties>
</file>