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1.png"/><Relationship Id="rId5" Type="http://schemas.openxmlformats.org/officeDocument/2006/relationships/image" Target="../media/image-7-5.png"/><Relationship Id="rId6" Type="http://schemas.openxmlformats.org/officeDocument/2006/relationships/image" Target="../media/image-7-5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96805" y="1143000"/>
            <a:ext cx="8192110" cy="4877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0" b="1" spc="-2880" kern="0" dirty="0">
                <a:solidFill>
                  <a:srgbClr val="1B1B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</a:t>
            </a:r>
            <a:endParaRPr lang="en-US" sz="48000" dirty="0"/>
          </a:p>
        </p:txBody>
      </p:sp>
      <p:pic>
        <p:nvPicPr>
          <p:cNvPr id="3" name="Image 0" descr="gen-dedup-3744d6f9db0993a023f7c17ebeab0962.png">    </p:cNvPr>
          <p:cNvPicPr>
            <a:picLocks noChangeAspect="1"/>
          </p:cNvPicPr>
          <p:nvPr/>
        </p:nvPicPr>
        <p:blipFill>
          <a:blip r:embed="rId1"/>
          <a:srcRect l="0" r="0" t="-84" b="-84"/>
          <a:stretch/>
        </p:blipFill>
        <p:spPr>
          <a:xfrm>
            <a:off x="1143000" y="3543300"/>
            <a:ext cx="47549" cy="32388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800100"/>
            <a:ext cx="8572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F2ED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/ BRAND BOOK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1430000" y="800100"/>
            <a:ext cx="5715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7C7C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I ASK, DONE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61795" y="3543300"/>
            <a:ext cx="11430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7F9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Websites / Work Tools / AI Education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61795" y="4095598"/>
            <a:ext cx="14287500" cy="208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200" b="1" spc="-252" kern="0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만들어 주고 끝이 아니라</a:t>
            </a:r>
            <a:pPr algn="l" indent="0" marL="0">
              <a:lnSpc>
                <a:spcPct val="114000"/>
              </a:lnSpc>
              <a:buNone/>
            </a:pPr>
            <a:endParaRPr lang="en-US" sz="72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7200" b="1" spc="-252" kern="0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직접 바꿀 수 있을 때까지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6458407"/>
            <a:ext cx="133356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B4B0A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 사업에 필요한 도구 제작과 직접 활용하는 힘</a:t>
            </a:r>
            <a:endParaRPr lang="en-US" sz="315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8343900"/>
            <a:ext cx="38203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42" kern="0" dirty="0">
                <a:solidFill>
                  <a:srgbClr val="6E6E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</a:t>
            </a:r>
            <a:pPr algn="l" indent="0" marL="0">
              <a:buNone/>
            </a:pPr>
            <a:r>
              <a:rPr lang="en-US" sz="2100" spc="42" kern="0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소상공인 · 1인 사업자 · 작은 사업팀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6003036" y="8343900"/>
            <a:ext cx="26773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42" kern="0" dirty="0">
                <a:solidFill>
                  <a:srgbClr val="6E6E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</a:t>
            </a:r>
            <a:pPr algn="l" indent="0" marL="0">
              <a:buNone/>
            </a:pPr>
            <a:r>
              <a:rPr lang="en-US" sz="2100" spc="42" kern="0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외주 제작 + AI 활용 교육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9720986" y="8343900"/>
            <a:ext cx="16386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42" kern="0" dirty="0">
                <a:solidFill>
                  <a:srgbClr val="6E6E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</a:t>
            </a:r>
            <a:pPr algn="l" indent="0" marL="0">
              <a:buNone/>
            </a:pPr>
            <a:r>
              <a:rPr lang="en-US" sz="2100" spc="42" kern="0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김동민 · 주현우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9677095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6E6E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Cover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15049195" y="9677095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B4B0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14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1619402"/>
            <a:ext cx="16002000" cy="9144"/>
          </a:xfrm>
          <a:prstGeom prst="rect">
            <a:avLst/>
          </a:prstGeom>
        </p:spPr>
      </p:pic>
      <p:pic>
        <p:nvPicPr>
          <p:cNvPr id="3" name="Image 1" descr="gen-dedup-3c04e9f29ffa00918874545ef6324dd7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13525805" y="2857500"/>
            <a:ext cx="9144" cy="4762195"/>
          </a:xfrm>
          <a:prstGeom prst="rect">
            <a:avLst/>
          </a:prstGeom>
        </p:spPr>
      </p:pic>
      <p:pic>
        <p:nvPicPr>
          <p:cNvPr id="4" name="Image 2" descr="gen-dedup-648c56afa33c3334facf48e61b6ee4b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5" name="Image 3" descr="gen-dedup-26e6bba94fbfcbfda8ee8af7c4410b01.png">    </p:cNvPr>
          <p:cNvPicPr>
            <a:picLocks noChangeAspect="1"/>
          </p:cNvPicPr>
          <p:nvPr/>
        </p:nvPicPr>
        <p:blipFill>
          <a:blip r:embed="rId4"/>
          <a:srcRect l="0" r="0" t="-77" b="-77"/>
          <a:stretch/>
        </p:blipFill>
        <p:spPr>
          <a:xfrm>
            <a:off x="1143000" y="2857500"/>
            <a:ext cx="47549" cy="476219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1047902"/>
            <a:ext cx="11430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Single Thought</a:t>
            </a:r>
            <a:endParaRPr lang="en-US" sz="1800" dirty="0"/>
          </a:p>
        </p:txBody>
      </p:sp>
      <p:sp>
        <p:nvSpPr>
          <p:cNvPr id="7" name="Text 1"/>
          <p:cNvSpPr txBox="1"/>
          <p:nvPr/>
        </p:nvSpPr>
        <p:spPr>
          <a:xfrm>
            <a:off x="1638605" y="2819095"/>
            <a:ext cx="11049610" cy="288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6000" b="1" spc="-192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Biadone이 건네는 것은</a:t>
            </a:r>
            <a:pPr algn="l" indent="0" marL="0">
              <a:lnSpc>
                <a:spcPct val="126000"/>
              </a:lnSpc>
              <a:buNone/>
            </a:pPr>
            <a:endParaRPr lang="en-US" sz="60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0" b="1" spc="-192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결과물이 아니라</a:t>
            </a:r>
            <a:pPr algn="l" indent="0" marL="0">
              <a:lnSpc>
                <a:spcPct val="126000"/>
              </a:lnSpc>
              <a:buNone/>
            </a:pPr>
            <a:endParaRPr lang="en-US" sz="60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0" b="1" spc="-192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결과물을 다루는 힘</a:t>
            </a:r>
            <a:endParaRPr lang="en-US" sz="6000" dirty="0"/>
          </a:p>
        </p:txBody>
      </p:sp>
      <p:sp>
        <p:nvSpPr>
          <p:cNvPr id="8" name="Text 2"/>
          <p:cNvSpPr txBox="1"/>
          <p:nvPr/>
        </p:nvSpPr>
        <p:spPr>
          <a:xfrm>
            <a:off x="1638605" y="6016752"/>
            <a:ext cx="11049610" cy="1127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"내 사업에 필요한 것을 만들고, 사용법을 이해하고,</a:t>
            </a:r>
            <a:pPr algn="l" indent="0" marL="0">
              <a:lnSpc>
                <a:spcPts val="4185"/>
              </a:lnSpc>
              <a:buNone/>
            </a:pPr>
            <a:endParaRPr lang="en-US" sz="2700" dirty="0"/>
          </a:p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필요한 부분은 스스로 수정할 수 있게 하자."</a:t>
            </a:r>
            <a:endParaRPr lang="en-US" sz="2700" dirty="0"/>
          </a:p>
        </p:txBody>
      </p:sp>
      <p:sp>
        <p:nvSpPr>
          <p:cNvPr id="9" name="Text 3"/>
          <p:cNvSpPr txBox="1"/>
          <p:nvPr/>
        </p:nvSpPr>
        <p:spPr>
          <a:xfrm>
            <a:off x="13906195" y="2857500"/>
            <a:ext cx="3238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BOTH</a:t>
            </a:r>
            <a:endParaRPr lang="en-US" sz="1800" dirty="0"/>
          </a:p>
        </p:txBody>
      </p:sp>
      <p:sp>
        <p:nvSpPr>
          <p:cNvPr id="10" name="Text 4"/>
          <p:cNvSpPr txBox="1"/>
          <p:nvPr/>
        </p:nvSpPr>
        <p:spPr>
          <a:xfrm>
            <a:off x="13906195" y="3290011"/>
            <a:ext cx="3238805" cy="261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외주 제작은 결과물 확보</a:t>
            </a:r>
            <a:pPr algn="l" indent="0" marL="0">
              <a:lnSpc>
                <a:spcPts val="3360"/>
              </a:lnSpc>
              <a:buNone/>
            </a:pP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교육은 내 업무에 기술 적용</a:t>
            </a:r>
            <a:pPr algn="l" indent="0" marL="0">
              <a:lnSpc>
                <a:spcPts val="3360"/>
              </a:lnSpc>
              <a:buNone/>
            </a:pP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서비스의 연결이 Biadone의 존재 이유</a:t>
            </a:r>
            <a:endParaRPr lang="en-US" sz="21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8572500"/>
            <a:ext cx="160020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5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문서 성격 · Biadone 사업 소개글 기반 브랜드 북 · 고객·파트너 공유용</a:t>
            </a:r>
            <a:endParaRPr lang="en-US" sz="2025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The Single Thought</a:t>
            </a:r>
            <a:endParaRPr lang="en-US" sz="1650" dirty="0"/>
          </a:p>
        </p:txBody>
      </p:sp>
      <p:sp>
        <p:nvSpPr>
          <p:cNvPr id="13" name="Text 7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14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1619402"/>
            <a:ext cx="16002000" cy="9144"/>
          </a:xfrm>
          <a:prstGeom prst="rect">
            <a:avLst/>
          </a:prstGeom>
        </p:spPr>
      </p:pic>
      <p:pic>
        <p:nvPicPr>
          <p:cNvPr id="3" name="Image 1" descr="gen-dedup-a157b14f6f947df5d8bd11b9e351bb48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12763195" y="4000500"/>
            <a:ext cx="9144" cy="2095805"/>
          </a:xfrm>
          <a:prstGeom prst="rect">
            <a:avLst/>
          </a:prstGeom>
        </p:spPr>
      </p:pic>
      <p:pic>
        <p:nvPicPr>
          <p:cNvPr id="4" name="Image 2" descr="gen-dedup-648c56afa33c3334facf48e61b6ee4b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6667805"/>
            <a:ext cx="16002000" cy="9144"/>
          </a:xfrm>
          <a:prstGeom prst="rect">
            <a:avLst/>
          </a:prstGeom>
        </p:spPr>
      </p:pic>
      <p:pic>
        <p:nvPicPr>
          <p:cNvPr id="5" name="Image 3" descr="gen-dedup-648c56afa33c3334facf48e61b6ee4ba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1047902"/>
            <a:ext cx="11430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Name</a:t>
            </a:r>
            <a:endParaRPr lang="en-US" sz="1800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2247595"/>
            <a:ext cx="16002000" cy="169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0" b="1" spc="-47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pPr algn="l" indent="0" marL="0">
              <a:buNone/>
            </a:pPr>
            <a:r>
              <a:rPr lang="en-US" sz="10500" b="1" spc="-472" kern="0" dirty="0">
                <a:solidFill>
                  <a:srgbClr val="DEDC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efore </a:t>
            </a:r>
            <a:pPr algn="l" indent="0" marL="0">
              <a:buNone/>
            </a:pPr>
            <a:r>
              <a:rPr lang="en-US" sz="10500" b="1" spc="-47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</a:t>
            </a:r>
            <a:pPr algn="l" indent="0" marL="0">
              <a:buNone/>
            </a:pPr>
            <a:r>
              <a:rPr lang="en-US" sz="10500" b="1" spc="-47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l" indent="0" marL="0">
              <a:buNone/>
            </a:pPr>
            <a:r>
              <a:rPr lang="en-US" sz="10500" b="1" spc="-472" kern="0" dirty="0">
                <a:solidFill>
                  <a:srgbClr val="DEDC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sk, </a:t>
            </a:r>
            <a:pPr algn="l" indent="0" marL="0">
              <a:buNone/>
            </a:pPr>
            <a:r>
              <a:rPr lang="en-US" sz="10500" b="1" spc="-47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</a:t>
            </a:r>
            <a:endParaRPr lang="en-US" sz="105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4000500"/>
            <a:ext cx="104781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묻기 전에 이미 끝나 있는 일</a:t>
            </a:r>
            <a:endParaRPr lang="en-US" sz="480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4924044"/>
            <a:ext cx="1047811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Biadone = Before I ask, Done</a:t>
            </a:r>
            <a:pPr algn="l" indent="0" marL="0">
              <a:lnSpc>
                <a:spcPts val="3840"/>
              </a:lnSpc>
              <a:buNone/>
            </a:pPr>
            <a:endParaRPr lang="en-US" sz="24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물어보기 전에 '알잘딱깔센' 해결</a:t>
            </a:r>
            <a:endParaRPr lang="en-US" sz="2400" dirty="0"/>
          </a:p>
        </p:txBody>
      </p:sp>
      <p:sp>
        <p:nvSpPr>
          <p:cNvPr id="10" name="Text 4"/>
          <p:cNvSpPr txBox="1"/>
          <p:nvPr/>
        </p:nvSpPr>
        <p:spPr>
          <a:xfrm>
            <a:off x="13144500" y="4000500"/>
            <a:ext cx="4000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알잘딱깔센</a:t>
            </a:r>
            <a:endParaRPr lang="en-US" sz="1800" dirty="0"/>
          </a:p>
        </p:txBody>
      </p:sp>
      <p:sp>
        <p:nvSpPr>
          <p:cNvPr id="11" name="Text 5"/>
          <p:cNvSpPr txBox="1"/>
          <p:nvPr/>
        </p:nvSpPr>
        <p:spPr>
          <a:xfrm>
            <a:off x="13144500" y="4413809"/>
            <a:ext cx="40005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알아서 · 잘 · 딱</a:t>
            </a:r>
            <a:pPr algn="l" indent="0" marL="0">
              <a:lnSpc>
                <a:spcPts val="3360"/>
              </a:lnSpc>
              <a:buNone/>
            </a:pP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깔끔하고 · 센스 있게</a:t>
            </a:r>
            <a:endParaRPr lang="en-US" sz="21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7048195"/>
            <a:ext cx="485820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7457846"/>
            <a:ext cx="4858207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묻기 전에 먼저 파악</a:t>
            </a:r>
            <a:endParaRPr lang="en-US" sz="24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7960766"/>
            <a:ext cx="48582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업무와 불편 지점의 사전 이해</a:t>
            </a:r>
            <a:endParaRPr lang="en-US" sz="2100" dirty="0"/>
          </a:p>
        </p:txBody>
      </p:sp>
      <p:sp>
        <p:nvSpPr>
          <p:cNvPr id="15" name="Shape 9"/>
          <p:cNvSpPr/>
          <p:nvPr/>
        </p:nvSpPr>
        <p:spPr>
          <a:xfrm>
            <a:off x="6476695" y="7048195"/>
            <a:ext cx="9144" cy="1314907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963156" y="7048195"/>
            <a:ext cx="43726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6963156" y="7457846"/>
            <a:ext cx="4372661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알잘딱깔센 완성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6963156" y="7960766"/>
            <a:ext cx="437266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규모·예산·환경에 맞춘 제작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11811305" y="7048195"/>
            <a:ext cx="9144" cy="1314907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2296851" y="7048195"/>
            <a:ext cx="4849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NEXT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2296851" y="7457846"/>
            <a:ext cx="4849063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다음엔 묻지 않고 직접 해결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12296851" y="7960766"/>
            <a:ext cx="4849063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활용 교육으로 고객의 손에 이양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The Name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14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1619402"/>
            <a:ext cx="16002000" cy="9144"/>
          </a:xfrm>
          <a:prstGeom prst="rect">
            <a:avLst/>
          </a:prstGeom>
        </p:spPr>
      </p:pic>
      <p:pic>
        <p:nvPicPr>
          <p:cNvPr id="3" name="Image 1" descr="gen-dedup-648c56afa33c3334facf48e61b6ee4ba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" y="1047902"/>
            <a:ext cx="11430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Contents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2762402"/>
            <a:ext cx="5334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브랜드 북의</a:t>
            </a:r>
            <a:pPr algn="l" indent="0" marL="0">
              <a:lnSpc>
                <a:spcPct val="120000"/>
              </a:lnSpc>
              <a:buNone/>
            </a:pP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다섯 가지 질문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4568342"/>
            <a:ext cx="533461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시작했는지부터 누가 하는지까지 · 순서대로 읽으면 Biadone의 일하는 방식 도출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7619695" y="3896258"/>
            <a:ext cx="9525305" cy="9144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19695" y="2723998"/>
            <a:ext cx="7626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8801100" y="2790749"/>
            <a:ext cx="3194914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시작했는가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801100" y="3362249"/>
            <a:ext cx="280172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사업자가 막히는 지점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7619695" y="5287061"/>
            <a:ext cx="9525305" cy="9144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19695" y="4114800"/>
            <a:ext cx="7626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801100" y="4181551"/>
            <a:ext cx="3683203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무엇을 만드는가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8801100" y="4753051"/>
            <a:ext cx="348752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웹사이트와 업무 도구 제작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7619695" y="6677863"/>
            <a:ext cx="9525305" cy="9144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19695" y="5505602"/>
            <a:ext cx="7626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8801100" y="5572354"/>
            <a:ext cx="4132174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무엇을 가르치는가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8801100" y="6143854"/>
            <a:ext cx="37408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적용 범위 · 선택 기준 · 실습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7619695" y="8068666"/>
            <a:ext cx="9525305" cy="9144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619695" y="6896405"/>
            <a:ext cx="7626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7"/>
          <p:cNvSpPr txBox="1"/>
          <p:nvPr/>
        </p:nvSpPr>
        <p:spPr>
          <a:xfrm>
            <a:off x="8801100" y="6963156"/>
            <a:ext cx="4132174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어떻게 연결하는가</a:t>
            </a:r>
            <a:endParaRPr lang="en-US" sz="3000" dirty="0"/>
          </a:p>
        </p:txBody>
      </p:sp>
      <p:sp>
        <p:nvSpPr>
          <p:cNvPr id="22" name="Text 18"/>
          <p:cNvSpPr txBox="1"/>
          <p:nvPr/>
        </p:nvSpPr>
        <p:spPr>
          <a:xfrm>
            <a:off x="8801100" y="7534656"/>
            <a:ext cx="470367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외주 제작 → 활용 교육 → 직접 수정</a:t>
            </a:r>
            <a:endParaRPr lang="en-US" sz="2100" dirty="0"/>
          </a:p>
        </p:txBody>
      </p:sp>
      <p:sp>
        <p:nvSpPr>
          <p:cNvPr id="23" name="Text 19"/>
          <p:cNvSpPr txBox="1"/>
          <p:nvPr/>
        </p:nvSpPr>
        <p:spPr>
          <a:xfrm>
            <a:off x="7619695" y="8287207"/>
            <a:ext cx="7626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600" dirty="0"/>
          </a:p>
        </p:txBody>
      </p:sp>
      <p:sp>
        <p:nvSpPr>
          <p:cNvPr id="24" name="Text 20"/>
          <p:cNvSpPr txBox="1"/>
          <p:nvPr/>
        </p:nvSpPr>
        <p:spPr>
          <a:xfrm>
            <a:off x="8801100" y="8353044"/>
            <a:ext cx="5052974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누가, 어디를 향하는가</a:t>
            </a:r>
            <a:endParaRPr lang="en-US" sz="3000" dirty="0"/>
          </a:p>
        </p:txBody>
      </p:sp>
      <p:sp>
        <p:nvSpPr>
          <p:cNvPr id="25" name="Text 21"/>
          <p:cNvSpPr txBox="1"/>
          <p:nvPr/>
        </p:nvSpPr>
        <p:spPr>
          <a:xfrm>
            <a:off x="8801100" y="8924544"/>
            <a:ext cx="32580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팀의 역량과 지향점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Contents</a:t>
            </a:r>
            <a:endParaRPr lang="en-US" sz="1650" dirty="0"/>
          </a:p>
        </p:txBody>
      </p:sp>
      <p:sp>
        <p:nvSpPr>
          <p:cNvPr id="27" name="Text 23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14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1619402"/>
            <a:ext cx="16002000" cy="9144"/>
          </a:xfrm>
          <a:prstGeom prst="rect">
            <a:avLst/>
          </a:prstGeom>
        </p:spPr>
      </p:pic>
      <p:pic>
        <p:nvPicPr>
          <p:cNvPr id="3" name="Image 1" descr="gen-dedup-c493ebaf5606bffc45064022e82467ec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10858500" y="2667305"/>
            <a:ext cx="9144" cy="5333695"/>
          </a:xfrm>
          <a:prstGeom prst="rect">
            <a:avLst/>
          </a:prstGeom>
        </p:spPr>
      </p:pic>
      <p:pic>
        <p:nvPicPr>
          <p:cNvPr id="4" name="Image 2" descr="gen-dedup-648c56afa33c3334facf48e61b6ee4b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43000" y="1047902"/>
            <a:ext cx="11430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Why We Started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2667305"/>
            <a:ext cx="8953805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필요한 순간은 오지만</a:t>
            </a:r>
            <a:pPr algn="l" indent="0" marL="0">
              <a:lnSpc>
                <a:spcPct val="124000"/>
              </a:lnSpc>
              <a:buNone/>
            </a:pPr>
            <a:endParaRPr lang="en-US" sz="48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판단할 기준은 부재</a:t>
            </a:r>
            <a:endParaRPr lang="en-US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4529023"/>
            <a:ext cx="8953805" cy="15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홈페이지 제작 · 반복 업무 축소 · 마케팅 콘텐츠 제작</a:t>
            </a:r>
            <a:pPr algn="l" indent="0" marL="0">
              <a:lnSpc>
                <a:spcPts val="3960"/>
              </a:lnSpc>
              <a:buNone/>
            </a:pPr>
            <a:endParaRPr lang="en-US" sz="24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 운영 중 반드시 찾아오는 순간</a:t>
            </a:r>
            <a:pPr algn="l" indent="0" marL="0">
              <a:lnSpc>
                <a:spcPts val="3960"/>
              </a:lnSpc>
              <a:buNone/>
            </a:pPr>
            <a:endParaRPr lang="en-US" sz="24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문제는 실행 이전의 판단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11430000" y="4248302"/>
            <a:ext cx="5715000" cy="9144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0" y="2609698"/>
            <a:ext cx="8951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12448642" y="2962656"/>
            <a:ext cx="2553919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TO START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0" y="3448202"/>
            <a:ext cx="5715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무엇부터 시작할지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11430000" y="6216091"/>
            <a:ext cx="5715000" cy="9144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430000" y="4577486"/>
            <a:ext cx="8951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5400" dirty="0"/>
          </a:p>
        </p:txBody>
      </p:sp>
      <p:sp>
        <p:nvSpPr>
          <p:cNvPr id="14" name="Text 9"/>
          <p:cNvSpPr txBox="1"/>
          <p:nvPr/>
        </p:nvSpPr>
        <p:spPr>
          <a:xfrm>
            <a:off x="12448642" y="4930445"/>
            <a:ext cx="181508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TOOL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0" y="5415991"/>
            <a:ext cx="5715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어떤 서비스를 사용할지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0" y="6545275"/>
            <a:ext cx="8951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5400" dirty="0"/>
          </a:p>
        </p:txBody>
      </p:sp>
      <p:sp>
        <p:nvSpPr>
          <p:cNvPr id="17" name="Text 12"/>
          <p:cNvSpPr txBox="1"/>
          <p:nvPr/>
        </p:nvSpPr>
        <p:spPr>
          <a:xfrm>
            <a:off x="12448642" y="6898234"/>
            <a:ext cx="15151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MUCH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0" y="7383780"/>
            <a:ext cx="5715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비용을 얼마나 들일지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1143000" y="8477402"/>
            <a:ext cx="47549" cy="400507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438351" y="8477402"/>
            <a:ext cx="922995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막힌 지점은 기술이 아닌 판단 · 기준을 함께 세울 파트너 필요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01 Why We Started</a:t>
            </a:r>
            <a:endParaRPr lang="en-US" sz="1650" dirty="0"/>
          </a:p>
        </p:txBody>
      </p:sp>
      <p:sp>
        <p:nvSpPr>
          <p:cNvPr id="22" name="Text 17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14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2628900"/>
            <a:ext cx="16002000" cy="9144"/>
          </a:xfrm>
          <a:prstGeom prst="rect">
            <a:avLst/>
          </a:prstGeom>
        </p:spPr>
      </p:pic>
      <p:pic>
        <p:nvPicPr>
          <p:cNvPr id="3" name="Image 1" descr="gen-dedup-c493ebaf5606bffc45064022e82467ec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12382805" y="3143707"/>
            <a:ext cx="9144" cy="5333695"/>
          </a:xfrm>
          <a:prstGeom prst="rect">
            <a:avLst/>
          </a:prstGeom>
        </p:spPr>
      </p:pic>
      <p:pic>
        <p:nvPicPr>
          <p:cNvPr id="4" name="Image 2" descr="gen-dedup-648c56afa33c3334facf48e61b6ee4b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5" name="Image 3" descr="gen-dedup-e6858f1ea7db613ceb9471abef7e2144.png">    </p:cNvPr>
          <p:cNvPicPr>
            <a:picLocks noChangeAspect="1"/>
          </p:cNvPicPr>
          <p:nvPr/>
        </p:nvPicPr>
        <p:blipFill>
          <a:blip r:embed="rId4"/>
          <a:srcRect l="-11" r="-11" t="0" b="0"/>
          <a:stretch/>
        </p:blipFill>
        <p:spPr>
          <a:xfrm>
            <a:off x="1143000" y="5352898"/>
            <a:ext cx="10287000" cy="666598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990295"/>
            <a:ext cx="9525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The Turn</a:t>
            </a:r>
            <a:endParaRPr lang="en-US" sz="1800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1505102"/>
            <a:ext cx="1333561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결과물이 생겨도 문제는 그대로</a:t>
            </a:r>
            <a:endParaRPr lang="en-US" sz="48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3143707"/>
            <a:ext cx="10287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USUAL EXPECTATION</a:t>
            </a:r>
            <a:endParaRPr lang="en-US" sz="180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3629254"/>
            <a:ext cx="102870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105" kern="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만들어 두면 해결된다는 기대</a:t>
            </a:r>
            <a:endParaRPr lang="en-US" sz="42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4520794"/>
            <a:ext cx="10287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외주로 제작 · AI 도구 구독으로 문제 종결 기대</a:t>
            </a:r>
            <a:endParaRPr lang="en-US" sz="225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6400800"/>
            <a:ext cx="10668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ACTUALLY HAPPENS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6886346"/>
            <a:ext cx="10668305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500" b="1" spc="-135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작은 수정 하나에도 막힘</a:t>
            </a:r>
            <a:pPr algn="l" indent="0" marL="0">
              <a:lnSpc>
                <a:spcPct val="130000"/>
              </a:lnSpc>
              <a:buNone/>
            </a:pPr>
            <a:endParaRPr lang="en-US" sz="4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4500" b="1" spc="-135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구독한 AI는 업무 밖에 머묾</a:t>
            </a:r>
            <a:endParaRPr lang="en-US" sz="4500" dirty="0"/>
          </a:p>
        </p:txBody>
      </p:sp>
      <p:sp>
        <p:nvSpPr>
          <p:cNvPr id="13" name="Text 7"/>
          <p:cNvSpPr txBox="1"/>
          <p:nvPr/>
        </p:nvSpPr>
        <p:spPr>
          <a:xfrm>
            <a:off x="12954305" y="3105302"/>
            <a:ext cx="4191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 WHAT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12954305" y="3546043"/>
            <a:ext cx="4191610" cy="289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결과물 전달만으로는 불충분</a:t>
            </a:r>
            <a:pPr algn="l" indent="0" marL="0">
              <a:lnSpc>
                <a:spcPts val="3713"/>
              </a:lnSpc>
              <a:buNone/>
            </a:pPr>
            <a:endParaRPr lang="en-US" sz="2250" dirty="0"/>
          </a:p>
          <a:p>
            <a:pPr algn="l" indent="0" marL="0">
              <a:lnSpc>
                <a:spcPts val="3713"/>
              </a:lnSpc>
              <a:buNone/>
            </a:pPr>
            <a:endParaRPr lang="en-US" sz="2250" dirty="0"/>
          </a:p>
          <a:p>
            <a:pPr algn="l" indent="0" marL="0">
              <a:lnSpc>
                <a:spcPts val="3713"/>
              </a:lnSpc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사용법 이해와 직접 수정 역량 필요</a:t>
            </a:r>
            <a:pPr algn="l" indent="0" marL="0">
              <a:lnSpc>
                <a:spcPts val="3713"/>
              </a:lnSpc>
              <a:buNone/>
            </a:pPr>
            <a:endParaRPr lang="en-US" sz="2250" dirty="0"/>
          </a:p>
          <a:p>
            <a:pPr algn="l" indent="0" marL="0">
              <a:lnSpc>
                <a:spcPts val="3713"/>
              </a:lnSpc>
              <a:buNone/>
            </a:pPr>
            <a:endParaRPr lang="en-US" sz="2250" dirty="0"/>
          </a:p>
          <a:p>
            <a:pPr algn="l" indent="0" marL="0">
              <a:lnSpc>
                <a:spcPts val="3713"/>
              </a:lnSpc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따라서 Biadone의 형태는 제작과 교육의 결합</a:t>
            </a:r>
            <a:endParaRPr lang="en-US" sz="225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01 The Turn</a:t>
            </a:r>
            <a:endParaRPr lang="en-US" sz="1650" dirty="0"/>
          </a:p>
        </p:txBody>
      </p:sp>
      <p:sp>
        <p:nvSpPr>
          <p:cNvPr id="16" name="Text 10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/ 14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3847795"/>
            <a:ext cx="16002000" cy="9144"/>
          </a:xfrm>
          <a:prstGeom prst="rect">
            <a:avLst/>
          </a:prstGeom>
        </p:spPr>
      </p:pic>
      <p:pic>
        <p:nvPicPr>
          <p:cNvPr id="3" name="Image 1" descr="gen-dedup-c7543c954a5c959080c31eac91a46615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5715000" y="4304995"/>
            <a:ext cx="9144" cy="3810305"/>
          </a:xfrm>
          <a:prstGeom prst="rect">
            <a:avLst/>
          </a:prstGeom>
        </p:spPr>
      </p:pic>
      <p:pic>
        <p:nvPicPr>
          <p:cNvPr id="4" name="Image 2" descr="gen-dedup-c7543c954a5c959080c31eac91a46615.png">    </p:cNvPr>
          <p:cNvPicPr>
            <a:picLocks noChangeAspect="1"/>
          </p:cNvPicPr>
          <p:nvPr/>
        </p:nvPicPr>
        <p:blipFill>
          <a:blip r:embed="rId3"/>
          <a:srcRect l="0" r="0" t="-2089" b="-2089"/>
          <a:stretch/>
        </p:blipFill>
        <p:spPr>
          <a:xfrm>
            <a:off x="10668305" y="4304995"/>
            <a:ext cx="9144" cy="3810305"/>
          </a:xfrm>
          <a:prstGeom prst="rect">
            <a:avLst/>
          </a:prstGeom>
        </p:spPr>
      </p:pic>
      <p:pic>
        <p:nvPicPr>
          <p:cNvPr id="5" name="Image 3" descr="gen-dedup-648c56afa33c3334facf48e61b6ee4ba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990295"/>
            <a:ext cx="9525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What We Build</a:t>
            </a:r>
            <a:endParaRPr lang="en-US" sz="1800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1505102"/>
            <a:ext cx="1428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제작의 출발점은 기능 목록이 아니라</a:t>
            </a:r>
            <a:pPr algn="l" indent="0" marL="0">
              <a:lnSpc>
                <a:spcPct val="120000"/>
              </a:lnSpc>
              <a:buNone/>
            </a:pP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사업자의 하루</a:t>
            </a:r>
            <a:endParaRPr lang="en-US" sz="48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3143707"/>
            <a:ext cx="1428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어떤 사업인지 · 어디에 시간을 쓰는지 · 어디서 불편한지부터 파악</a:t>
            </a:r>
            <a:endParaRPr lang="en-US" sz="240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4304995"/>
            <a:ext cx="4191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01 · LISTEN</a:t>
            </a:r>
            <a:endParaRPr lang="en-US" sz="18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4733849"/>
            <a:ext cx="4191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업무 파악</a:t>
            </a:r>
            <a:endParaRPr lang="en-US" sz="3150" dirty="0"/>
          </a:p>
        </p:txBody>
      </p:sp>
      <p:pic>
        <p:nvPicPr>
          <p:cNvPr id="11" name="Image 4" descr="gen-dedup-fd1d11c277de83bb388450ce1167a581.png">    </p:cNvPr>
          <p:cNvPicPr>
            <a:picLocks noChangeAspect="1"/>
          </p:cNvPicPr>
          <p:nvPr/>
        </p:nvPicPr>
        <p:blipFill>
          <a:blip r:embed="rId5"/>
          <a:srcRect l="-2078" r="-2078" t="0" b="0"/>
          <a:stretch/>
        </p:blipFill>
        <p:spPr>
          <a:xfrm>
            <a:off x="1143000" y="5520233"/>
            <a:ext cx="4190695" cy="914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5797296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사업의 내용</a:t>
            </a:r>
            <a:endParaRPr lang="en-US" sz="225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6449263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시간이 드는 업무</a:t>
            </a:r>
            <a:endParaRPr lang="en-US" sz="22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7102145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불편함을 느끼는 지점</a:t>
            </a:r>
            <a:endParaRPr lang="en-US" sz="2250" dirty="0"/>
          </a:p>
        </p:txBody>
      </p:sp>
      <p:sp>
        <p:nvSpPr>
          <p:cNvPr id="15" name="Text 8"/>
          <p:cNvSpPr txBox="1"/>
          <p:nvPr/>
        </p:nvSpPr>
        <p:spPr>
          <a:xfrm>
            <a:off x="6096305" y="4304995"/>
            <a:ext cx="4191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02 · SCOPE</a:t>
            </a:r>
            <a:endParaRPr lang="en-US" sz="1800" dirty="0"/>
          </a:p>
        </p:txBody>
      </p:sp>
      <p:sp>
        <p:nvSpPr>
          <p:cNvPr id="16" name="Text 9"/>
          <p:cNvSpPr txBox="1"/>
          <p:nvPr/>
        </p:nvSpPr>
        <p:spPr>
          <a:xfrm>
            <a:off x="6096305" y="4733849"/>
            <a:ext cx="4191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범위 결정</a:t>
            </a:r>
            <a:endParaRPr lang="en-US" sz="3150" dirty="0"/>
          </a:p>
        </p:txBody>
      </p:sp>
      <p:pic>
        <p:nvPicPr>
          <p:cNvPr id="17" name="Image 5" descr="gen-dedup-fd1d11c277de83bb388450ce1167a581.png">    </p:cNvPr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6096305" y="5520233"/>
            <a:ext cx="4190695" cy="914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096305" y="5797296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 규모와 예산</a:t>
            </a:r>
            <a:endParaRPr lang="en-US" sz="2250" dirty="0"/>
          </a:p>
        </p:txBody>
      </p:sp>
      <p:sp>
        <p:nvSpPr>
          <p:cNvPr id="19" name="Text 11"/>
          <p:cNvSpPr txBox="1"/>
          <p:nvPr/>
        </p:nvSpPr>
        <p:spPr>
          <a:xfrm>
            <a:off x="6096305" y="6449263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실제 사용 환경</a:t>
            </a:r>
            <a:endParaRPr lang="en-US" sz="2250" dirty="0"/>
          </a:p>
        </p:txBody>
      </p:sp>
      <p:sp>
        <p:nvSpPr>
          <p:cNvPr id="20" name="Text 12"/>
          <p:cNvSpPr txBox="1"/>
          <p:nvPr/>
        </p:nvSpPr>
        <p:spPr>
          <a:xfrm>
            <a:off x="6096305" y="7102145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필요한 기능만 선별</a:t>
            </a:r>
            <a:endParaRPr lang="en-US" sz="2250" dirty="0"/>
          </a:p>
        </p:txBody>
      </p:sp>
      <p:sp>
        <p:nvSpPr>
          <p:cNvPr id="21" name="Text 13"/>
          <p:cNvSpPr txBox="1"/>
          <p:nvPr/>
        </p:nvSpPr>
        <p:spPr>
          <a:xfrm>
            <a:off x="11048695" y="4304995"/>
            <a:ext cx="6096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03 · BUILD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11048695" y="4733849"/>
            <a:ext cx="6096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제작 대상 예시</a:t>
            </a:r>
            <a:endParaRPr lang="en-US" sz="3150" dirty="0"/>
          </a:p>
        </p:txBody>
      </p:sp>
      <p:pic>
        <p:nvPicPr>
          <p:cNvPr id="23" name="Image 6" descr="gen-dedup-4ae3a1b45e4cc83902531c676e9d670e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11048695" y="5520233"/>
            <a:ext cx="6096305" cy="91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048695" y="5797296"/>
            <a:ext cx="60963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상품·서비스 소개 홈페이지 · 문의 페이지</a:t>
            </a:r>
            <a:endParaRPr lang="en-US" sz="2250" dirty="0"/>
          </a:p>
        </p:txBody>
      </p:sp>
      <p:sp>
        <p:nvSpPr>
          <p:cNvPr id="25" name="Text 16"/>
          <p:cNvSpPr txBox="1"/>
          <p:nvPr/>
        </p:nvSpPr>
        <p:spPr>
          <a:xfrm>
            <a:off x="11048695" y="6449263"/>
            <a:ext cx="60963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흩어진 매출 자료 정리 도구</a:t>
            </a:r>
            <a:endParaRPr lang="en-US" sz="2250" dirty="0"/>
          </a:p>
        </p:txBody>
      </p:sp>
      <p:sp>
        <p:nvSpPr>
          <p:cNvPr id="26" name="Text 17"/>
          <p:cNvSpPr txBox="1"/>
          <p:nvPr/>
        </p:nvSpPr>
        <p:spPr>
          <a:xfrm>
            <a:off x="11048695" y="7102145"/>
            <a:ext cx="60963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반복 보고서 작성 프로그램</a:t>
            </a:r>
            <a:endParaRPr lang="en-US" sz="2250" dirty="0"/>
          </a:p>
        </p:txBody>
      </p:sp>
      <p:sp>
        <p:nvSpPr>
          <p:cNvPr id="27" name="Text 18"/>
          <p:cNvSpPr txBox="1"/>
          <p:nvPr/>
        </p:nvSpPr>
        <p:spPr>
          <a:xfrm>
            <a:off x="11048695" y="7754112"/>
            <a:ext cx="60963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콘텐츠·반복 업무의 AI 자동화</a:t>
            </a:r>
            <a:endParaRPr lang="en-US" sz="2250" dirty="0"/>
          </a:p>
        </p:txBody>
      </p:sp>
      <p:sp>
        <p:nvSpPr>
          <p:cNvPr id="28" name="Shape 19"/>
          <p:cNvSpPr/>
          <p:nvPr/>
        </p:nvSpPr>
        <p:spPr>
          <a:xfrm>
            <a:off x="1143000" y="8725205"/>
            <a:ext cx="47549" cy="4572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1438351" y="8725205"/>
            <a:ext cx="13040258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판단 기준은 하나 · 운영 과정에서의 실제 활용도</a:t>
            </a:r>
            <a:endParaRPr lang="en-US" sz="2400" dirty="0"/>
          </a:p>
        </p:txBody>
      </p:sp>
      <p:sp>
        <p:nvSpPr>
          <p:cNvPr id="30" name="Text 21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02 What We Build</a:t>
            </a:r>
            <a:endParaRPr lang="en-US" sz="1650" dirty="0"/>
          </a:p>
        </p:txBody>
      </p:sp>
      <p:sp>
        <p:nvSpPr>
          <p:cNvPr id="31" name="Text 22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/ 14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3847795"/>
            <a:ext cx="16002000" cy="9144"/>
          </a:xfrm>
          <a:prstGeom prst="rect">
            <a:avLst/>
          </a:prstGeom>
        </p:spPr>
      </p:pic>
      <p:pic>
        <p:nvPicPr>
          <p:cNvPr id="3" name="Image 1" descr="gen-dedup-3f44ad4e846b972af53200caf5ec26e9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6476695" y="4304995"/>
            <a:ext cx="9144" cy="4000500"/>
          </a:xfrm>
          <a:prstGeom prst="rect">
            <a:avLst/>
          </a:prstGeom>
        </p:spPr>
      </p:pic>
      <p:pic>
        <p:nvPicPr>
          <p:cNvPr id="4" name="Image 2" descr="gen-dedup-3f44ad4e846b972af53200caf5ec26e9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12382805" y="4304995"/>
            <a:ext cx="9144" cy="4000500"/>
          </a:xfrm>
          <a:prstGeom prst="rect">
            <a:avLst/>
          </a:prstGeom>
        </p:spPr>
      </p:pic>
      <p:pic>
        <p:nvPicPr>
          <p:cNvPr id="5" name="Image 3" descr="gen-dedup-648c56afa33c3334facf48e61b6ee4ba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990295"/>
            <a:ext cx="9525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What We Teach</a:t>
            </a:r>
            <a:endParaRPr lang="en-US" sz="1800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1505102"/>
            <a:ext cx="1428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AI에 맡길 일과</a:t>
            </a:r>
            <a:pPr algn="l" indent="0" marL="0">
              <a:lnSpc>
                <a:spcPct val="120000"/>
              </a:lnSpc>
              <a:buNone/>
            </a:pP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사람이 판단할 일의 경계 설정</a:t>
            </a:r>
            <a:endParaRPr lang="en-US" sz="48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3143707"/>
            <a:ext cx="1428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교육의 첫 질문 · "AI를 내 사업의 어떤 일에 적용할 수 있을까?"</a:t>
            </a:r>
            <a:endParaRPr lang="en-US" sz="240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4304995"/>
            <a:ext cx="4763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ASSISTS</a:t>
            </a:r>
            <a:endParaRPr lang="en-US" sz="18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4733849"/>
            <a:ext cx="47631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도움 가능</a:t>
            </a:r>
            <a:endParaRPr lang="en-US" sz="315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5349240"/>
            <a:ext cx="4763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맡길 수 있는 업무</a:t>
            </a:r>
            <a:endParaRPr lang="en-US" sz="2100" dirty="0"/>
          </a:p>
        </p:txBody>
      </p:sp>
      <p:pic>
        <p:nvPicPr>
          <p:cNvPr id="12" name="Image 4" descr="gen-dedup-e4e99d162a490df150ea5585f8716c58.png">    </p:cNvPr>
          <p:cNvPicPr>
            <a:picLocks noChangeAspect="1"/>
          </p:cNvPicPr>
          <p:nvPr/>
        </p:nvPicPr>
        <p:blipFill>
          <a:blip r:embed="rId5"/>
          <a:srcRect l="-2078" r="-2078" t="0" b="0"/>
          <a:stretch/>
        </p:blipFill>
        <p:spPr>
          <a:xfrm>
            <a:off x="1143000" y="6035040"/>
            <a:ext cx="4762195" cy="91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6330391"/>
            <a:ext cx="4763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자료 정리</a:t>
            </a:r>
            <a:endParaRPr lang="en-US" sz="22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7001561"/>
            <a:ext cx="4763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홍보 문구 작성</a:t>
            </a:r>
            <a:endParaRPr lang="en-US" sz="225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7673645"/>
            <a:ext cx="4763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문의 내용 분류</a:t>
            </a:r>
            <a:endParaRPr lang="en-US" sz="2250" dirty="0"/>
          </a:p>
        </p:txBody>
      </p:sp>
      <p:sp>
        <p:nvSpPr>
          <p:cNvPr id="16" name="Text 9"/>
          <p:cNvSpPr txBox="1"/>
          <p:nvPr/>
        </p:nvSpPr>
        <p:spPr>
          <a:xfrm>
            <a:off x="7048195" y="4304995"/>
            <a:ext cx="4763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 CHECK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7048195" y="4733849"/>
            <a:ext cx="47631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234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사람의 검토</a:t>
            </a:r>
            <a:endParaRPr lang="en-US" sz="3150" dirty="0"/>
          </a:p>
        </p:txBody>
      </p:sp>
      <p:sp>
        <p:nvSpPr>
          <p:cNvPr id="18" name="Text 11"/>
          <p:cNvSpPr txBox="1"/>
          <p:nvPr/>
        </p:nvSpPr>
        <p:spPr>
          <a:xfrm>
            <a:off x="7048195" y="5349240"/>
            <a:ext cx="4763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맡긴 뒤 확인할 지점</a:t>
            </a:r>
            <a:endParaRPr lang="en-US" sz="2100" dirty="0"/>
          </a:p>
        </p:txBody>
      </p:sp>
      <p:pic>
        <p:nvPicPr>
          <p:cNvPr id="19" name="Image 5" descr="gen-dedup-2dd415ccc6a9618e9111c150ba854230.png">    </p:cNvPr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7048195" y="6035040"/>
            <a:ext cx="4762195" cy="91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48195" y="6330391"/>
            <a:ext cx="4763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결과물 검토 방법</a:t>
            </a:r>
            <a:endParaRPr lang="en-US" sz="2250" dirty="0"/>
          </a:p>
        </p:txBody>
      </p:sp>
      <p:sp>
        <p:nvSpPr>
          <p:cNvPr id="21" name="Text 13"/>
          <p:cNvSpPr txBox="1"/>
          <p:nvPr/>
        </p:nvSpPr>
        <p:spPr>
          <a:xfrm>
            <a:off x="7048195" y="7001561"/>
            <a:ext cx="4763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업무별 확인 지점 지정</a:t>
            </a:r>
            <a:endParaRPr lang="en-US" sz="2250" dirty="0"/>
          </a:p>
        </p:txBody>
      </p:sp>
      <p:sp>
        <p:nvSpPr>
          <p:cNvPr id="22" name="Text 14"/>
          <p:cNvSpPr txBox="1"/>
          <p:nvPr/>
        </p:nvSpPr>
        <p:spPr>
          <a:xfrm>
            <a:off x="7048195" y="7673645"/>
            <a:ext cx="4763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맡길 범위의 조정</a:t>
            </a:r>
            <a:endParaRPr lang="en-US" sz="2250" dirty="0"/>
          </a:p>
        </p:txBody>
      </p:sp>
      <p:sp>
        <p:nvSpPr>
          <p:cNvPr id="23" name="Text 15"/>
          <p:cNvSpPr txBox="1"/>
          <p:nvPr/>
        </p:nvSpPr>
        <p:spPr>
          <a:xfrm>
            <a:off x="12954305" y="4304995"/>
            <a:ext cx="4191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OWNER DECIDES</a:t>
            </a:r>
            <a:endParaRPr lang="en-US" sz="1800" dirty="0"/>
          </a:p>
        </p:txBody>
      </p:sp>
      <p:sp>
        <p:nvSpPr>
          <p:cNvPr id="24" name="Text 16"/>
          <p:cNvSpPr txBox="1"/>
          <p:nvPr/>
        </p:nvSpPr>
        <p:spPr>
          <a:xfrm>
            <a:off x="12954305" y="4733849"/>
            <a:ext cx="4191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사업자의 판단</a:t>
            </a:r>
            <a:endParaRPr lang="en-US" sz="3150" dirty="0"/>
          </a:p>
        </p:txBody>
      </p:sp>
      <p:sp>
        <p:nvSpPr>
          <p:cNvPr id="25" name="Text 17"/>
          <p:cNvSpPr txBox="1"/>
          <p:nvPr/>
        </p:nvSpPr>
        <p:spPr>
          <a:xfrm>
            <a:off x="12954305" y="5349240"/>
            <a:ext cx="4191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맡기지 않을 영역</a:t>
            </a:r>
            <a:endParaRPr lang="en-US" sz="2100" dirty="0"/>
          </a:p>
        </p:txBody>
      </p:sp>
      <p:pic>
        <p:nvPicPr>
          <p:cNvPr id="26" name="Image 6" descr="gen-dedup-fd1d11c277de83bb388450ce1167a581.png">    </p:cNvPr>
          <p:cNvPicPr>
            <a:picLocks noChangeAspect="1"/>
          </p:cNvPicPr>
          <p:nvPr/>
        </p:nvPicPr>
        <p:blipFill>
          <a:blip r:embed="rId7"/>
          <a:srcRect l="-2078" r="-2078" t="0" b="0"/>
          <a:stretch/>
        </p:blipFill>
        <p:spPr>
          <a:xfrm>
            <a:off x="12954305" y="6035040"/>
            <a:ext cx="4190695" cy="91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2954305" y="6330391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고객과의 약속</a:t>
            </a:r>
            <a:endParaRPr lang="en-US" sz="2250" dirty="0"/>
          </a:p>
        </p:txBody>
      </p:sp>
      <p:sp>
        <p:nvSpPr>
          <p:cNvPr id="28" name="Text 19"/>
          <p:cNvSpPr txBox="1"/>
          <p:nvPr/>
        </p:nvSpPr>
        <p:spPr>
          <a:xfrm>
            <a:off x="12954305" y="7001561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가격 결정</a:t>
            </a:r>
            <a:endParaRPr lang="en-US" sz="2250" dirty="0"/>
          </a:p>
        </p:txBody>
      </p:sp>
      <p:sp>
        <p:nvSpPr>
          <p:cNvPr id="29" name="Text 20"/>
          <p:cNvSpPr txBox="1"/>
          <p:nvPr/>
        </p:nvSpPr>
        <p:spPr>
          <a:xfrm>
            <a:off x="12954305" y="7673645"/>
            <a:ext cx="4191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예외 상황 대응</a:t>
            </a:r>
            <a:endParaRPr lang="en-US" sz="2250" dirty="0"/>
          </a:p>
        </p:txBody>
      </p:sp>
      <p:sp>
        <p:nvSpPr>
          <p:cNvPr id="30" name="Shape 21"/>
          <p:cNvSpPr/>
          <p:nvPr/>
        </p:nvSpPr>
        <p:spPr>
          <a:xfrm>
            <a:off x="1143000" y="8725205"/>
            <a:ext cx="47549" cy="4572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1438351" y="8725205"/>
            <a:ext cx="13040258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무엇을 할 수 있는지와 어디에 사람이 필요한지, 함께 교육</a:t>
            </a:r>
            <a:endParaRPr lang="en-US" sz="2400" dirty="0"/>
          </a:p>
        </p:txBody>
      </p:sp>
      <p:sp>
        <p:nvSpPr>
          <p:cNvPr id="32" name="Text 23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03 What We Teach</a:t>
            </a:r>
            <a:endParaRPr lang="en-US" sz="1650" dirty="0"/>
          </a:p>
        </p:txBody>
      </p:sp>
      <p:sp>
        <p:nvSpPr>
          <p:cNvPr id="33" name="Text 24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/ 14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3847795"/>
            <a:ext cx="16002000" cy="9144"/>
          </a:xfrm>
          <a:prstGeom prst="rect">
            <a:avLst/>
          </a:prstGeom>
        </p:spPr>
      </p:pic>
      <p:pic>
        <p:nvPicPr>
          <p:cNvPr id="3" name="Image 1" descr="gen-dedup-3f44ad4e846b972af53200caf5ec26e9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12763195" y="4304995"/>
            <a:ext cx="9144" cy="4000500"/>
          </a:xfrm>
          <a:prstGeom prst="rect">
            <a:avLst/>
          </a:prstGeom>
        </p:spPr>
      </p:pic>
      <p:pic>
        <p:nvPicPr>
          <p:cNvPr id="4" name="Image 2" descr="gen-dedup-648c56afa33c3334facf48e61b6ee4b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43000" y="990295"/>
            <a:ext cx="9525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Build or Buy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505102"/>
            <a:ext cx="1428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정답 대신 비교 기준 제공</a:t>
            </a:r>
            <a:pPr algn="l" indent="0" marL="0">
              <a:lnSpc>
                <a:spcPct val="120000"/>
              </a:lnSpc>
              <a:buNone/>
            </a:pP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선택은 사업자의 몫</a:t>
            </a:r>
            <a:endParaRPr lang="en-US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3143707"/>
            <a:ext cx="1428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서비스 사용 vs 필요한 기능 직접 제작 · 핵심 교육 주제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4304995"/>
          <a:ext cx="10668305" cy="3343961"/>
        </p:xfrm>
        <a:graphic>
          <a:graphicData uri="http://schemas.openxmlformats.org/drawingml/2006/table">
            <a:tbl>
              <a:tblPr/>
              <a:tblGrid>
                <a:gridCol w="2286000"/>
                <a:gridCol w="4000500"/>
                <a:gridCol w="4381805"/>
              </a:tblGrid>
              <a:tr h="8359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9A9AA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기준</a:t>
                      </a:r>
                      <a:endParaRPr lang="en-US" sz="1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209398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01014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기존 서비스 사용</a:t>
                      </a:r>
                      <a:endParaRPr lang="en-US" sz="24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0" marB="209398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2340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직접 제작</a:t>
                      </a:r>
                      <a:endParaRPr lang="en-US" sz="24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0" marB="209398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4A4A5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비용</a:t>
                      </a:r>
                      <a:endParaRPr lang="en-US" sz="21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01014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구독료</a:t>
                      </a:r>
                      <a:endParaRPr lang="en-US" sz="225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01014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제작 시간과 비용</a:t>
                      </a:r>
                      <a:endParaRPr lang="en-US" sz="225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4A4A5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사용</a:t>
                      </a:r>
                      <a:endParaRPr lang="en-US" sz="21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01014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기존 도구의 편의성</a:t>
                      </a:r>
                      <a:endParaRPr lang="en-US" sz="225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01014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필요한 기능만 구현</a:t>
                      </a:r>
                      <a:endParaRPr lang="en-US" sz="225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4A4A5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이후</a:t>
                      </a:r>
                      <a:endParaRPr lang="en-US" sz="21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01014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지속적 구독 유지</a:t>
                      </a:r>
                      <a:endParaRPr lang="en-US" sz="225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01014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유지관리 부담</a:t>
                      </a:r>
                      <a:endParaRPr lang="en-US" sz="225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0" marR="0" marT="286207" marB="286207" anchor="ctr">
                    <a:lnL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01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3"/>
          <p:cNvSpPr txBox="1"/>
          <p:nvPr/>
        </p:nvSpPr>
        <p:spPr>
          <a:xfrm>
            <a:off x="13144500" y="4304995"/>
            <a:ext cx="4000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0" name="Text 4"/>
          <p:cNvSpPr txBox="1"/>
          <p:nvPr/>
        </p:nvSpPr>
        <p:spPr>
          <a:xfrm>
            <a:off x="13144500" y="4745736"/>
            <a:ext cx="4000500" cy="1950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어느 쪽을 팔기 위한 비교가 아님</a:t>
            </a:r>
            <a:pPr algn="l" indent="0" marL="0">
              <a:lnSpc>
                <a:spcPts val="3713"/>
              </a:lnSpc>
              <a:buNone/>
            </a:pPr>
            <a:endParaRPr lang="en-US" sz="2250" dirty="0"/>
          </a:p>
          <a:p>
            <a:pPr algn="l" indent="0" marL="0">
              <a:lnSpc>
                <a:spcPts val="3713"/>
              </a:lnSpc>
              <a:buNone/>
            </a:pPr>
            <a:endParaRPr lang="en-US" sz="2250" dirty="0"/>
          </a:p>
          <a:p>
            <a:pPr algn="l" indent="0" marL="0">
              <a:lnSpc>
                <a:spcPts val="3713"/>
              </a:lnSpc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자신의 상황 이해 · 적합한 방법의 선택이 목적</a:t>
            </a:r>
            <a:endParaRPr lang="en-US" sz="225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03 Build or Buy</a:t>
            </a:r>
            <a:endParaRPr lang="en-US" sz="1650" dirty="0"/>
          </a:p>
        </p:txBody>
      </p:sp>
      <p:sp>
        <p:nvSpPr>
          <p:cNvPr id="12" name="Text 6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 / 14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3847795"/>
            <a:ext cx="16002000" cy="9144"/>
          </a:xfrm>
          <a:prstGeom prst="rect">
            <a:avLst/>
          </a:prstGeom>
        </p:spPr>
      </p:pic>
      <p:pic>
        <p:nvPicPr>
          <p:cNvPr id="3" name="Image 1" descr="gen-dedup-648c56afa33c3334facf48e61b6ee4ba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4" name="Image 2" descr="gen-dedup-82bedb6e34ffbb44c62f484461e6b30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3000" y="4476902"/>
            <a:ext cx="16002000" cy="571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43000" y="990295"/>
            <a:ext cx="9525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Hands-on Practice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505102"/>
            <a:ext cx="1428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실습의 재료는 예제가 아니라</a:t>
            </a:r>
            <a:pPr algn="l" indent="0" marL="0">
              <a:lnSpc>
                <a:spcPct val="120000"/>
              </a:lnSpc>
              <a:buNone/>
            </a:pP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 업무</a:t>
            </a:r>
            <a:endParaRPr lang="en-US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3143707"/>
            <a:ext cx="1428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교육 목표는 지식 습득이 아닌 내 사업에 적용 가능한 활용 능력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5333695"/>
            <a:ext cx="3620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3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5962802"/>
            <a:ext cx="3620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업무 설명</a:t>
            </a:r>
            <a:endParaRPr lang="en-US" sz="27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6541618"/>
            <a:ext cx="415960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 업무를 구체적인 언어로 정리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143500" y="5333695"/>
            <a:ext cx="3620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300" dirty="0"/>
          </a:p>
        </p:txBody>
      </p:sp>
      <p:sp>
        <p:nvSpPr>
          <p:cNvPr id="12" name="Text 7"/>
          <p:cNvSpPr txBox="1"/>
          <p:nvPr/>
        </p:nvSpPr>
        <p:spPr>
          <a:xfrm>
            <a:off x="5143500" y="5962802"/>
            <a:ext cx="3620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AI와 함께 제작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5143500" y="6541618"/>
            <a:ext cx="3620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설명을 바탕으로 결과물 생성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9144000" y="5333695"/>
            <a:ext cx="3620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3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0" y="5962802"/>
            <a:ext cx="36201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오류 확인</a:t>
            </a:r>
            <a:endParaRPr lang="en-US" sz="27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0" y="6541618"/>
            <a:ext cx="3620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결과물의 틀린 부분 검토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3144500" y="5333695"/>
            <a:ext cx="4000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300" dirty="0"/>
          </a:p>
        </p:txBody>
      </p:sp>
      <p:sp>
        <p:nvSpPr>
          <p:cNvPr id="18" name="Text 13"/>
          <p:cNvSpPr txBox="1"/>
          <p:nvPr/>
        </p:nvSpPr>
        <p:spPr>
          <a:xfrm>
            <a:off x="13144500" y="5962802"/>
            <a:ext cx="4000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직접 수정</a:t>
            </a:r>
            <a:endParaRPr lang="en-US" sz="2700" dirty="0"/>
          </a:p>
        </p:txBody>
      </p:sp>
      <p:sp>
        <p:nvSpPr>
          <p:cNvPr id="19" name="Text 14"/>
          <p:cNvSpPr txBox="1"/>
          <p:nvPr/>
        </p:nvSpPr>
        <p:spPr>
          <a:xfrm>
            <a:off x="13144500" y="6541618"/>
            <a:ext cx="4000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고치고 다시 확인하는 반복</a:t>
            </a:r>
            <a:endParaRPr lang="en-US" sz="2100" dirty="0"/>
          </a:p>
        </p:txBody>
      </p:sp>
      <p:sp>
        <p:nvSpPr>
          <p:cNvPr id="20" name="Shape 15"/>
          <p:cNvSpPr/>
          <p:nvPr/>
        </p:nvSpPr>
        <p:spPr>
          <a:xfrm>
            <a:off x="1143000" y="8382305"/>
            <a:ext cx="47549" cy="4572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438351" y="8382305"/>
            <a:ext cx="13040258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교실을 나서는 순간 바로 내 사업에 적용 가능한 상태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03 Hands-on Practice</a:t>
            </a:r>
            <a:endParaRPr lang="en-US" sz="1650" dirty="0"/>
          </a:p>
        </p:txBody>
      </p:sp>
      <p:sp>
        <p:nvSpPr>
          <p:cNvPr id="23" name="Text 18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14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47802"/>
            <a:ext cx="18288000" cy="2628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250" b="1" spc="-862" kern="0" dirty="0">
                <a:solidFill>
                  <a:srgbClr val="E6DF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BUILD→OWN</a:t>
            </a:r>
            <a:endParaRPr lang="en-US" sz="17250" dirty="0"/>
          </a:p>
        </p:txBody>
      </p:sp>
      <p:pic>
        <p:nvPicPr>
          <p:cNvPr id="3" name="Image 0" descr="gen-dedup-a73de84832a1cda3adcbb7b39bed1a05.png">    </p:cNvPr>
          <p:cNvPicPr>
            <a:picLocks noChangeAspect="1"/>
          </p:cNvPicPr>
          <p:nvPr/>
        </p:nvPicPr>
        <p:blipFill>
          <a:blip r:embed="rId1"/>
          <a:srcRect l="0" r="0" t="-408" b="-408"/>
          <a:stretch/>
        </p:blipFill>
        <p:spPr>
          <a:xfrm>
            <a:off x="8191195" y="5524805"/>
            <a:ext cx="1904695" cy="384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990295"/>
            <a:ext cx="1600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spc="504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The Core Structure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029407"/>
            <a:ext cx="16002000" cy="2124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7200" b="1" spc="-288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외주 제작 → 활용 교육</a:t>
            </a:r>
            <a:pPr algn="ctr" indent="0" marL="0">
              <a:lnSpc>
                <a:spcPct val="116000"/>
              </a:lnSpc>
              <a:buNone/>
            </a:pPr>
            <a:endParaRPr lang="en-US" sz="72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7200" b="1" spc="-288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고객의 직접 수정·보완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2476195" y="5921654"/>
            <a:ext cx="13335610" cy="126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어디서 시작하든 같은 방향</a:t>
            </a:r>
            <a:pPr algn="ctr" indent="0" marL="0">
              <a:lnSpc>
                <a:spcPts val="4725"/>
              </a:lnSpc>
              <a:buNone/>
            </a:pPr>
            <a:endParaRPr lang="en-US" sz="3150" dirty="0"/>
          </a:p>
          <a:p>
            <a:pPr algn="ctr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고객이 직접 다룰 수 있는 범위의 확대</a:t>
            </a:r>
            <a:endParaRPr lang="en-US" sz="315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7619695"/>
            <a:ext cx="485820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BUILD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8048549"/>
            <a:ext cx="6054242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당장 결과물이 필요한 고객 · 제작 의뢰부터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6476695" y="7619695"/>
            <a:ext cx="9144" cy="875995"/>
          </a:xfrm>
          <a:prstGeom prst="rect">
            <a:avLst/>
          </a:prstGeom>
          <a:solidFill>
            <a:srgbClr val="D9D2C4"/>
          </a:solidFill>
          <a:ln w="12700">
            <a:solidFill>
              <a:srgbClr val="D9D2C4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63156" y="7619695"/>
            <a:ext cx="43726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LEARN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963156" y="8048549"/>
            <a:ext cx="478597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직접 만들고 싶은 고객 · 교육부터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1811305" y="7619695"/>
            <a:ext cx="9144" cy="875995"/>
          </a:xfrm>
          <a:prstGeom prst="rect">
            <a:avLst/>
          </a:prstGeom>
          <a:solidFill>
            <a:srgbClr val="D9D2C4"/>
          </a:solidFill>
          <a:ln w="12700">
            <a:solidFill>
              <a:srgbClr val="D9D2C4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296851" y="7619695"/>
            <a:ext cx="4849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10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296851" y="8048549"/>
            <a:ext cx="560893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제작 고객도 사용법·기본 수정 교육 연결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69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04 The Core Structure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A69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/ 14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1619402"/>
            <a:ext cx="16002000" cy="9144"/>
          </a:xfrm>
          <a:prstGeom prst="rect">
            <a:avLst/>
          </a:prstGeom>
        </p:spPr>
      </p:pic>
      <p:pic>
        <p:nvPicPr>
          <p:cNvPr id="3" name="Image 1" descr="gen-dedup-c493ebaf5606bffc45064022e82467ec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10858500" y="2667305"/>
            <a:ext cx="9144" cy="5333695"/>
          </a:xfrm>
          <a:prstGeom prst="rect">
            <a:avLst/>
          </a:prstGeom>
        </p:spPr>
      </p:pic>
      <p:pic>
        <p:nvPicPr>
          <p:cNvPr id="4" name="Image 2" descr="gen-dedup-648c56afa33c3334facf48e61b6ee4b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43000" y="1047902"/>
            <a:ext cx="11430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The Hand-over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2667305"/>
            <a:ext cx="8953805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납품의 끝은 인수인계가 아니라</a:t>
            </a:r>
            <a:pPr algn="l" indent="0" marL="0">
              <a:lnSpc>
                <a:spcPct val="124000"/>
              </a:lnSpc>
              <a:buNone/>
            </a:pPr>
            <a:endParaRPr lang="en-US" sz="48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고객의 첫 수정</a:t>
            </a:r>
            <a:endParaRPr lang="en-US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4529023"/>
            <a:ext cx="8953805" cy="15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제작한 결과물을 기준으로 수정 방법 교육</a:t>
            </a:r>
            <a:pPr algn="l" indent="0" marL="0">
              <a:lnSpc>
                <a:spcPts val="3960"/>
              </a:lnSpc>
              <a:buNone/>
            </a:pPr>
            <a:endParaRPr lang="en-US" sz="24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자신의 수준과 필요에 맞춰 범위 확대</a:t>
            </a:r>
            <a:pPr algn="l" indent="0" marL="0">
              <a:lnSpc>
                <a:spcPts val="3960"/>
              </a:lnSpc>
              <a:buNone/>
            </a:pPr>
            <a:endParaRPr lang="en-US" sz="24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사업이 달라질 때 가능한 부분부터 직접 개선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11430000" y="4295851"/>
            <a:ext cx="5715000" cy="9144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0" y="2609698"/>
            <a:ext cx="5715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WEBSITE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0" y="3019349"/>
            <a:ext cx="57150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홈페이지 제작 시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0" y="3577133"/>
            <a:ext cx="57150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소개 문구와 이미지 교체 방법</a:t>
            </a:r>
            <a:endParaRPr lang="en-US" sz="2250" dirty="0"/>
          </a:p>
        </p:txBody>
      </p:sp>
      <p:sp>
        <p:nvSpPr>
          <p:cNvPr id="12" name="Shape 7"/>
          <p:cNvSpPr/>
          <p:nvPr/>
        </p:nvSpPr>
        <p:spPr>
          <a:xfrm>
            <a:off x="11430000" y="6273698"/>
            <a:ext cx="5715000" cy="9144"/>
          </a:xfrm>
          <a:prstGeom prst="rect">
            <a:avLst/>
          </a:prstGeom>
          <a:solidFill>
            <a:srgbClr val="DEDCD6"/>
          </a:solidFill>
          <a:ln w="12700">
            <a:solidFill>
              <a:srgbClr val="DEDCD6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430000" y="4587545"/>
            <a:ext cx="5715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WORK TOOL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0" y="4997196"/>
            <a:ext cx="57150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업무 도구 제작 시</a:t>
            </a: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0" y="5554980"/>
            <a:ext cx="57150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입력 항목과 처리 기준 조정 방법</a:t>
            </a:r>
            <a:endParaRPr lang="en-US" sz="225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0" y="6564478"/>
            <a:ext cx="5715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ALWAYS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0" y="6974129"/>
            <a:ext cx="57150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경계의 이해</a:t>
            </a:r>
            <a:endParaRPr lang="en-US" sz="27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0" y="7531913"/>
            <a:ext cx="57150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 개발 영역과 일상 수정 영역 구분</a:t>
            </a:r>
            <a:endParaRPr lang="en-US" sz="225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04 The Hand-over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/ 14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8c56afa33c3334facf48e61b6ee4b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3238805"/>
            <a:ext cx="16002000" cy="9144"/>
          </a:xfrm>
          <a:prstGeom prst="rect">
            <a:avLst/>
          </a:prstGeom>
        </p:spPr>
      </p:pic>
      <p:pic>
        <p:nvPicPr>
          <p:cNvPr id="3" name="Image 1" descr="gen-dedup-3f8e7bae61e769d55e9f1b8564391432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8572500" y="3810305"/>
            <a:ext cx="9144" cy="4190695"/>
          </a:xfrm>
          <a:prstGeom prst="rect">
            <a:avLst/>
          </a:prstGeom>
        </p:spPr>
      </p:pic>
      <p:pic>
        <p:nvPicPr>
          <p:cNvPr id="4" name="Image 2" descr="gen-dedup-648c56afa33c3334facf48e61b6ee4b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43000" y="990295"/>
            <a:ext cx="9525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34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Who We Are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505102"/>
            <a:ext cx="1428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현장을 아는 눈과</a:t>
            </a:r>
            <a:pPr algn="l" indent="0" marL="0">
              <a:lnSpc>
                <a:spcPct val="120000"/>
              </a:lnSpc>
              <a:buNone/>
            </a:pPr>
            <a:endParaRPr lang="en-US" sz="4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800" b="1" spc="-144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구현하는 손의 결합</a:t>
            </a:r>
            <a:endParaRPr lang="en-US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3810305"/>
            <a:ext cx="6667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PERSPECTIVE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4276649"/>
            <a:ext cx="6667805" cy="829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김동민</a:t>
            </a:r>
            <a:endParaRPr lang="en-US" sz="5400" dirty="0"/>
          </a:p>
        </p:txBody>
      </p:sp>
      <p:pic>
        <p:nvPicPr>
          <p:cNvPr id="9" name="Image 3" descr="gen-dedup-a160ead378502243464353b5912638e5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5384902"/>
            <a:ext cx="6667805" cy="91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618988"/>
            <a:ext cx="6667805" cy="1528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실제 사업 운영 경험</a:t>
            </a:r>
            <a:pPr algn="l" indent="0" marL="0">
              <a:lnSpc>
                <a:spcPts val="3840"/>
              </a:lnSpc>
              <a:buNone/>
            </a:pPr>
            <a:endParaRPr lang="en-US" sz="24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현장에서 번거로운 일의 발견</a:t>
            </a:r>
            <a:pPr algn="l" indent="0" marL="0">
              <a:lnSpc>
                <a:spcPts val="3840"/>
              </a:lnSpc>
              <a:buNone/>
            </a:pPr>
            <a:endParaRPr lang="en-US" sz="24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필요한 결과의 정의</a:t>
            </a:r>
            <a:endParaRPr lang="en-US" sz="2400" dirty="0"/>
          </a:p>
        </p:txBody>
      </p:sp>
      <p:sp>
        <p:nvSpPr>
          <p:cNvPr id="11" name="Text 5"/>
          <p:cNvSpPr txBox="1"/>
          <p:nvPr/>
        </p:nvSpPr>
        <p:spPr>
          <a:xfrm>
            <a:off x="9334195" y="3810305"/>
            <a:ext cx="7810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CRAFT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9334195" y="4276649"/>
            <a:ext cx="7810805" cy="829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주현우</a:t>
            </a:r>
            <a:endParaRPr lang="en-US" sz="5400" dirty="0"/>
          </a:p>
        </p:txBody>
      </p:sp>
      <p:pic>
        <p:nvPicPr>
          <p:cNvPr id="13" name="Image 4" descr="gen-dedup-4cc998265ba236d4b78a22b5e0d776e6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9334195" y="5384902"/>
            <a:ext cx="7810805" cy="91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334195" y="5618988"/>
            <a:ext cx="7810805" cy="1528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소프트웨어 개발 역량</a:t>
            </a:r>
            <a:pPr algn="l" indent="0" marL="0">
              <a:lnSpc>
                <a:spcPts val="3840"/>
              </a:lnSpc>
              <a:buNone/>
            </a:pPr>
            <a:endParaRPr lang="en-US" sz="24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필요한 결과의 기술 구현</a:t>
            </a:r>
            <a:pPr algn="l" indent="0" marL="0">
              <a:lnSpc>
                <a:spcPts val="3840"/>
              </a:lnSpc>
              <a:buNone/>
            </a:pPr>
            <a:endParaRPr lang="en-US" sz="24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4A4A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가능한 형태로의 완성</a:t>
            </a:r>
            <a:endParaRPr lang="en-US" sz="2400" dirty="0"/>
          </a:p>
        </p:txBody>
      </p:sp>
      <p:sp>
        <p:nvSpPr>
          <p:cNvPr id="15" name="Shape 8"/>
          <p:cNvSpPr/>
          <p:nvPr/>
        </p:nvSpPr>
        <p:spPr>
          <a:xfrm>
            <a:off x="1143000" y="8572500"/>
            <a:ext cx="47549" cy="428854"/>
          </a:xfrm>
          <a:prstGeom prst="rect">
            <a:avLst/>
          </a:prstGeom>
          <a:solidFill>
            <a:srgbClr val="2340FF"/>
          </a:solidFill>
          <a:ln w="12700">
            <a:solidFill>
              <a:srgbClr val="2340FF">
                <a:alpha val="0"/>
              </a:srgbClr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1438351" y="8572500"/>
            <a:ext cx="15706649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0101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교육 방식도 동일 · 만들 수 있는 것을 보여주고, 활용을 경험시키고, 운영 지식을 전달</a:t>
            </a:r>
            <a:endParaRPr lang="en-US" sz="225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05 Who We Are</a:t>
            </a:r>
            <a:endParaRPr lang="en-US" sz="1650" dirty="0"/>
          </a:p>
        </p:txBody>
      </p:sp>
      <p:sp>
        <p:nvSpPr>
          <p:cNvPr id="18" name="Text 11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9A9AA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 / 14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9805" y="1143000"/>
            <a:ext cx="704911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0" b="1" spc="-2700" kern="0" dirty="0">
                <a:solidFill>
                  <a:srgbClr val="1B1B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</a:t>
            </a:r>
            <a:endParaRPr lang="en-US" sz="45000" dirty="0"/>
          </a:p>
        </p:txBody>
      </p:sp>
      <p:pic>
        <p:nvPicPr>
          <p:cNvPr id="3" name="Image 0" descr="gen-dedup-ecea31feee2e76fa9d59dd04d8a6858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1638605"/>
            <a:ext cx="16002000" cy="9144"/>
          </a:xfrm>
          <a:prstGeom prst="rect">
            <a:avLst/>
          </a:prstGeom>
        </p:spPr>
      </p:pic>
      <p:pic>
        <p:nvPicPr>
          <p:cNvPr id="4" name="Image 1" descr="gen-dedup-ecea31feee2e76fa9d59dd04d8a6858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5600700"/>
            <a:ext cx="16002000" cy="9144"/>
          </a:xfrm>
          <a:prstGeom prst="rect">
            <a:avLst/>
          </a:prstGeom>
        </p:spPr>
      </p:pic>
      <p:pic>
        <p:nvPicPr>
          <p:cNvPr id="5" name="Image 2" descr="gen-dedup-32c3c440e8ad1b435f3e7b080932a3d5.png">    </p:cNvPr>
          <p:cNvPicPr>
            <a:picLocks noChangeAspect="1"/>
          </p:cNvPicPr>
          <p:nvPr/>
        </p:nvPicPr>
        <p:blipFill>
          <a:blip r:embed="rId3"/>
          <a:srcRect l="0" r="0" t="-77" b="-77"/>
          <a:stretch/>
        </p:blipFill>
        <p:spPr>
          <a:xfrm>
            <a:off x="1143000" y="2495398"/>
            <a:ext cx="47549" cy="238109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43000" y="990295"/>
            <a:ext cx="9525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7F9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Where We Head</a:t>
            </a:r>
            <a:endParaRPr lang="en-US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1638605" y="2438705"/>
            <a:ext cx="12382805" cy="156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4800" b="1" spc="-144" kern="0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자기 일을 이해하고, 기술을 고르고,</a:t>
            </a:r>
            <a:pPr algn="l" indent="0" marL="0">
              <a:lnSpc>
                <a:spcPct val="128000"/>
              </a:lnSpc>
              <a:buNone/>
            </a:pPr>
            <a:endParaRPr lang="en-US" sz="4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4800" b="1" spc="-144" kern="0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스스로 개선하는 사업자</a:t>
            </a:r>
            <a:endParaRPr lang="en-US" sz="4800" dirty="0"/>
          </a:p>
        </p:txBody>
      </p:sp>
      <p:sp>
        <p:nvSpPr>
          <p:cNvPr id="8" name="Text 3"/>
          <p:cNvSpPr txBox="1"/>
          <p:nvPr/>
        </p:nvSpPr>
        <p:spPr>
          <a:xfrm>
            <a:off x="1638605" y="4286707"/>
            <a:ext cx="12382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Biadone이 만들고자 하는 환경 · 사업에 기술을 적용하는 전 과정의 동행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5962802"/>
            <a:ext cx="1600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7F9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 WE PROMISE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6543446"/>
            <a:ext cx="4858207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2ED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3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7134149"/>
            <a:ext cx="4858207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이해 · Understand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7675474"/>
            <a:ext cx="48582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 업무의 구조와 불편 지점 파악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6476695" y="6543446"/>
            <a:ext cx="9144" cy="1533449"/>
          </a:xfrm>
          <a:prstGeom prst="rect">
            <a:avLst/>
          </a:prstGeom>
          <a:solidFill>
            <a:srgbClr val="2C2C36"/>
          </a:solidFill>
          <a:ln w="12700">
            <a:solidFill>
              <a:srgbClr val="2C2C36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963156" y="6543446"/>
            <a:ext cx="4372661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2ED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300" dirty="0"/>
          </a:p>
        </p:txBody>
      </p:sp>
      <p:sp>
        <p:nvSpPr>
          <p:cNvPr id="15" name="Text 10"/>
          <p:cNvSpPr txBox="1"/>
          <p:nvPr/>
        </p:nvSpPr>
        <p:spPr>
          <a:xfrm>
            <a:off x="6963156" y="7134149"/>
            <a:ext cx="4372661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선택 · Choose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6963156" y="7675474"/>
            <a:ext cx="437266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상황에 맞는 기술과 방법 결정</a:t>
            </a:r>
            <a:endParaRPr lang="en-US" sz="2100" dirty="0"/>
          </a:p>
        </p:txBody>
      </p:sp>
      <p:sp>
        <p:nvSpPr>
          <p:cNvPr id="17" name="Shape 12"/>
          <p:cNvSpPr/>
          <p:nvPr/>
        </p:nvSpPr>
        <p:spPr>
          <a:xfrm>
            <a:off x="11811305" y="6543446"/>
            <a:ext cx="9144" cy="1533449"/>
          </a:xfrm>
          <a:prstGeom prst="rect">
            <a:avLst/>
          </a:prstGeom>
          <a:solidFill>
            <a:srgbClr val="2C2C36"/>
          </a:solidFill>
          <a:ln w="12700">
            <a:solidFill>
              <a:srgbClr val="2C2C36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2296851" y="6543446"/>
            <a:ext cx="484906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2ED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300" dirty="0"/>
          </a:p>
        </p:txBody>
      </p:sp>
      <p:sp>
        <p:nvSpPr>
          <p:cNvPr id="19" name="Text 14"/>
          <p:cNvSpPr txBox="1"/>
          <p:nvPr/>
        </p:nvSpPr>
        <p:spPr>
          <a:xfrm>
            <a:off x="12296851" y="7134149"/>
            <a:ext cx="4849063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개선 · Improve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12296851" y="7675474"/>
            <a:ext cx="4849063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9A9A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결과물의 직접 활용과 보완</a:t>
            </a: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1143000" y="8686800"/>
            <a:ext cx="47549" cy="418795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438351" y="8686800"/>
            <a:ext cx="1570664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F2EDE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Biadone · Before I ask, Done · 묻기 전에 알잘딱깔센, 그다음은 내 손으로</a:t>
            </a:r>
            <a:endParaRPr lang="en-US" sz="225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9773107"/>
            <a:ext cx="11430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6E6E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Biadone Brand Book · Closing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15049195" y="9773107"/>
            <a:ext cx="2095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spc="198" kern="0" dirty="0">
                <a:solidFill>
                  <a:srgbClr val="B4B0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/ 14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2026-10-21T13:21:59Z</dcterms:created>
  <dcterms:modified xsi:type="dcterms:W3CDTF">2026-10-21T13:21:59Z</dcterms:modified>
</cp:coreProperties>
</file>